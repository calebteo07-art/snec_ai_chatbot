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7562850" cy="106965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54151" y="5313908"/>
            <a:ext cx="3054548" cy="925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290"/>
              </a:lnSpc>
            </a:pPr>
            <a:r>
              <a:rPr sz="8100" b="1" i="0">
                <a:solidFill>
                  <a:srgbClr val="F3FFFB"/>
                </a:solidFill>
                <a:latin typeface="Fraunces"/>
              </a:rPr>
              <a:t>Eye</a:t>
            </a:r>
            <a:r>
              <a:rPr sz="8100" b="1" i="0">
                <a:solidFill>
                  <a:srgbClr val="2FE0C4"/>
                </a:solidFill>
                <a:latin typeface="Fraunces"/>
              </a:rPr>
              <a:t>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175" y="6487269"/>
            <a:ext cx="5524500" cy="819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50"/>
              </a:lnSpc>
            </a:pPr>
            <a:r>
              <a:rPr sz="1387" b="0" i="1">
                <a:solidFill>
                  <a:srgbClr val="BFE2DC"/>
                </a:solidFill>
                <a:latin typeface="Fraunces"/>
              </a:rPr>
              <a:t>An AI training companion for the whole of ophthalmic education — grounding every learner, from first-year student to practising clinician, in faithful, adaptive, measurable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715500"/>
            <a:ext cx="1829991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937" b="1" i="0">
                <a:solidFill>
                  <a:srgbClr val="DCEFEA"/>
                </a:solidFill>
                <a:latin typeface="Archivo"/>
              </a:rPr>
              <a:t>Dr JB · Director, SNEC Training &amp; Education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39542" y="9715500"/>
            <a:ext cx="1574602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18"/>
              </a:lnSpc>
            </a:pPr>
            <a:r>
              <a:rPr sz="937" b="1" i="0">
                <a:solidFill>
                  <a:srgbClr val="DCEFEA"/>
                </a:solidFill>
                <a:latin typeface="Archivo"/>
              </a:rPr>
              <a:t>Caleb Teo · SNEC Training &amp;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81612" y="9715500"/>
            <a:ext cx="1652588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18"/>
              </a:lnSpc>
            </a:pPr>
            <a:r>
              <a:rPr sz="937" b="1" i="0">
                <a:solidFill>
                  <a:srgbClr val="DCEFEA"/>
                </a:solidFill>
                <a:latin typeface="Archivo"/>
              </a:rPr>
              <a:t>June 2026 · Confidential Draft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9525000"/>
            <a:ext cx="2347912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6"/>
              </a:lnSpc>
            </a:pPr>
            <a:r>
              <a:rPr sz="712" b="0" i="0">
                <a:solidFill>
                  <a:srgbClr val="7F9AA0"/>
                </a:solidFill>
                <a:latin typeface="JetBrains Mono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562" y="9525000"/>
            <a:ext cx="2100560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26"/>
              </a:lnSpc>
            </a:pPr>
            <a:r>
              <a:rPr sz="712" b="0" i="0">
                <a:solidFill>
                  <a:srgbClr val="7F9AA0"/>
                </a:solidFill>
                <a:latin typeface="JetBrains Mono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7123" y="9525000"/>
            <a:ext cx="1857077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26"/>
              </a:lnSpc>
            </a:pPr>
            <a:r>
              <a:rPr sz="712" b="0" i="0">
                <a:solidFill>
                  <a:srgbClr val="7F9AA0"/>
                </a:solidFill>
                <a:latin typeface="JetBrains Mono"/>
              </a:rPr>
              <a:t>Document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153150" cy="900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sz="1575" b="0" i="0">
                <a:solidFill>
                  <a:srgbClr val="0A1F28"/>
                </a:solidFill>
                <a:latin typeface="Fraunces"/>
              </a:rPr>
              <a:t>Imagine every ophthalmic trainee — whatever their role — with a tutor who never sleeps, a patient who is always available, and a curriculum that adapts to exactly what they keep forgetting.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605088"/>
            <a:ext cx="6153150" cy="10670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1" i="0">
                <a:solidFill>
                  <a:srgbClr val="16313B"/>
                </a:solidFill>
                <a:latin typeface="Archivo"/>
              </a:rPr>
              <a:t>SNEC EyeBot</a:t>
            </a:r>
            <a:r>
              <a:rPr sz="1012" b="0" i="0">
                <a:solidFill>
                  <a:srgbClr val="16313B"/>
                </a:solidFill>
                <a:latin typeface="Archivo"/>
              </a:rPr>
              <a:t> is an AI learning companion that transforms a clinical curriculum into three evidence-based experiences — a Socratic tutor, inexhaustible virtual-patient simulations, and a self-optimising memory engine — woven into one adaptive loop. Grounded today in SNEC’s clinical curriculum and architected to serve the </a:t>
            </a:r>
            <a:r>
              <a:rPr sz="1012" b="0" i="0">
                <a:solidFill>
                  <a:srgbClr val="0C7D72"/>
                </a:solidFill>
                <a:latin typeface="Archivo"/>
              </a:rPr>
              <a:t>full spectrum of eye-care learners</a:t>
            </a:r>
            <a:r>
              <a:rPr sz="1012" b="0" i="0">
                <a:solidFill>
                  <a:srgbClr val="16313B"/>
                </a:solidFill>
                <a:latin typeface="Archivo"/>
              </a:rPr>
              <a:t>, it also gives educators a live, cohort-wide view of mastery for the first time. The platform is built, demonstrable, and ready to 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023598"/>
            <a:ext cx="6305550" cy="987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07151C"/>
                </a:solidFill>
                <a:latin typeface="Fraunces"/>
              </a:rPr>
              <a:t>A fixed curriculum becomes a </a:t>
            </a:r>
            <a:r>
              <a:rPr sz="2025" b="0" i="0">
                <a:solidFill>
                  <a:srgbClr val="0C7D72"/>
                </a:solidFill>
                <a:latin typeface="Fraunces"/>
              </a:rPr>
              <a:t>living, personalised, measurable</a:t>
            </a:r>
            <a:r>
              <a:rPr sz="2025" b="0" i="0">
                <a:solidFill>
                  <a:srgbClr val="07151C"/>
                </a:solidFill>
                <a:latin typeface="Fraunces"/>
              </a:rPr>
              <a:t> learning experience — and positions SNEC at the front of AI-enabled clinical education.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4234160"/>
            <a:ext cx="16002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2475" b="1" i="0">
                <a:solidFill>
                  <a:srgbClr val="07151C"/>
                </a:solidFill>
                <a:latin typeface="Fraunces"/>
              </a:rPr>
              <a:t>3-in-1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1325" y="4234160"/>
            <a:ext cx="16002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2475" b="1" i="0">
                <a:solidFill>
                  <a:srgbClr val="07151C"/>
                </a:solidFill>
                <a:latin typeface="Fraunces"/>
              </a:rPr>
              <a:t>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3975" y="4234160"/>
            <a:ext cx="16002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2475" b="1" i="0">
                <a:solidFill>
                  <a:srgbClr val="07151C"/>
                </a:solidFill>
                <a:latin typeface="Fraunces"/>
              </a:rPr>
              <a:t>Cohort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4653260"/>
            <a:ext cx="1600200" cy="50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6"/>
              </a:lnSpc>
            </a:pPr>
            <a:r>
              <a:rPr sz="862" b="0" i="0">
                <a:solidFill>
                  <a:srgbClr val="5D7480"/>
                </a:solidFill>
                <a:latin typeface="Archivo"/>
              </a:rPr>
              <a:t>Tutor, clinical simulator and memory engine working as a single adaptive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1325" y="4653260"/>
            <a:ext cx="1600200" cy="50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6"/>
              </a:lnSpc>
            </a:pPr>
            <a:r>
              <a:rPr sz="862" b="0" i="0">
                <a:solidFill>
                  <a:srgbClr val="5D7480"/>
                </a:solidFill>
                <a:latin typeface="Archivo"/>
              </a:rPr>
              <a:t>Every answer drawn from validated clinical material — faithful, not the open internet.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3975" y="4653260"/>
            <a:ext cx="1600200" cy="50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6"/>
              </a:lnSpc>
            </a:pPr>
            <a:r>
              <a:rPr sz="862" b="0" i="0">
                <a:solidFill>
                  <a:srgbClr val="5D7480"/>
                </a:solidFill>
                <a:latin typeface="Archivo"/>
              </a:rPr>
              <a:t>Live at-risk detection, retention scoring and weekly digests for educators.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Training the eyes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behind the eye care.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88704"/>
            <a:ext cx="5772150" cy="640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B9D0CF"/>
                </a:solidFill>
                <a:latin typeface="Archivo"/>
              </a:rPr>
              <a:t>Across the eye-care continuum — medical students on rotation, optometry students, ophthalmology residents, nurses and allied-health technicians — training is rigorous, yet it meets four structural limits that no amount of dedication can fully solve.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352657"/>
            <a:ext cx="5334000" cy="658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EAFFFB"/>
                </a:solidFill>
                <a:latin typeface="Fraunces"/>
              </a:rPr>
              <a:t>EyeBot is engineered to dissolve all four — </a:t>
            </a:r>
            <a:r>
              <a:rPr sz="2025" b="0" i="0">
                <a:solidFill>
                  <a:srgbClr val="2FE0C4"/>
                </a:solidFill>
                <a:latin typeface="Fraunces"/>
              </a:rPr>
              <a:t>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0625" y="3538538"/>
            <a:ext cx="5119688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Expert time is scarce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0625" y="4410968"/>
            <a:ext cx="4084737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Case exposure is uneven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0625" y="5283398"/>
            <a:ext cx="4982617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Knowledge decays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0625" y="6155829"/>
            <a:ext cx="4999286" cy="169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38"/>
              </a:lnSpc>
            </a:pPr>
            <a:r>
              <a:rPr sz="1275" b="1" i="0">
                <a:solidFill>
                  <a:srgbClr val="EAFFFB"/>
                </a:solidFill>
                <a:latin typeface="Fraunces"/>
              </a:rPr>
              <a:t>Cohort gaps are invisible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0625" y="3746599"/>
            <a:ext cx="5119688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One educator cannot give every trainee unlimited one-to-one tutoring or on-demand case practice.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4619030"/>
            <a:ext cx="4084737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Which conditions a trainee actually meets is left to the luck of the clinical roster.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0625" y="5491460"/>
            <a:ext cx="4982617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Without deliberate reinforcement, much of what is taught is forgotten within weeks of the lesson.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0625" y="6363891"/>
            <a:ext cx="4999286" cy="17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6"/>
              </a:lnSpc>
            </a:pPr>
            <a:r>
              <a:rPr sz="937" b="0" i="0">
                <a:solidFill>
                  <a:srgbClr val="9FB6B6"/>
                </a:solidFill>
                <a:latin typeface="Archivo"/>
              </a:rPr>
              <a:t>Educators often discover weaknesses at assessment time — when it is already late to intervene.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One companion. Three modes.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A single adaptive loop.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9797355"/>
            <a:ext cx="6305550" cy="21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012" b="0" i="0">
                <a:solidFill>
                  <a:srgbClr val="5D7480"/>
                </a:solidFill>
                <a:latin typeface="Archivo"/>
              </a:rPr>
              <a:t>…and quietly, an analytics layer watches the whole cohort — turning individual practice into institutional insight.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6574929"/>
            <a:ext cx="1670000" cy="159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200" b="1" i="0">
                <a:solidFill>
                  <a:srgbClr val="07151C"/>
                </a:solidFill>
                <a:latin typeface="Fraunces"/>
              </a:rPr>
              <a:t>Socratic Tutor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6350" y="6574929"/>
            <a:ext cx="1670000" cy="159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200" b="1" i="0">
                <a:solidFill>
                  <a:srgbClr val="07151C"/>
                </a:solidFill>
                <a:latin typeface="Fraunces"/>
              </a:rPr>
              <a:t>Case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601" y="6574929"/>
            <a:ext cx="1670000" cy="159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200" b="1" i="0">
                <a:solidFill>
                  <a:srgbClr val="07151C"/>
                </a:solidFill>
                <a:latin typeface="Fraunces"/>
              </a:rPr>
              <a:t>Spaced Flashcards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6801594"/>
            <a:ext cx="1670000" cy="833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3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Plain-language questions met with Explanation → Mechanism → Clinical Pearl → a check for understanding, always grounded in the clinical knowledge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350" y="6801594"/>
            <a:ext cx="1670000" cy="833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3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Interview a virtual patient, order investigations, commit to a diagnosis and plan — graded on a four-domain rubric out of 40 with instant feedback.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2601" y="6801594"/>
            <a:ext cx="1670000" cy="833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3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High-yield cards auto-generated from each session and every missed clinical point, scheduled by the SM-2 algorithm for durable recall.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An innovation —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not an integration.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88704"/>
            <a:ext cx="5715000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B9D0CF"/>
                </a:solidFill>
                <a:latin typeface="Archivo"/>
              </a:rPr>
              <a:t>EyeBot is not a chatbot bolted onto a syllabus. Five deliberate advances make it genuinely new for clinical education.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352657"/>
            <a:ext cx="5810250" cy="658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EAFFFB"/>
                </a:solidFill>
                <a:latin typeface="Fraunces"/>
              </a:rPr>
              <a:t>Together: the first AI companion built for </a:t>
            </a:r>
            <a:r>
              <a:rPr sz="2025" b="0" i="0">
                <a:solidFill>
                  <a:srgbClr val="2FE0C4"/>
                </a:solidFill>
                <a:latin typeface="Fraunces"/>
              </a:rPr>
              <a:t>how eye care is actually taught.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3100" y="3258443"/>
            <a:ext cx="499110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Curriculum-grounded clinical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3100" y="4215408"/>
            <a:ext cx="499110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Inexhaustible virtual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3100" y="5172373"/>
            <a:ext cx="499110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A self-optimising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3100" y="6129338"/>
            <a:ext cx="499110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Reliable by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3100" y="7086302"/>
            <a:ext cx="4991100" cy="1750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8"/>
              </a:lnSpc>
            </a:pPr>
            <a:r>
              <a:rPr sz="1312" b="1" i="0">
                <a:solidFill>
                  <a:srgbClr val="EAFFFB"/>
                </a:solidFill>
                <a:latin typeface="Fraunces"/>
              </a:rPr>
              <a:t>Cohort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43100" y="3481090"/>
            <a:ext cx="499110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Answers are retrieved from the institution’s own validated material — faithful and auditable, never the untraceable guesswork of a generic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4438055"/>
            <a:ext cx="499110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The AI plays both patient and examiner: unlimited, standardised case exposure with rubric-graded feedback — independent of roster luck.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3100" y="5395020"/>
            <a:ext cx="499110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Each learner’s weak points automatically become their next flashcards and tougher cases — genuine personalisation, at scale.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6351984"/>
            <a:ext cx="499110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A Workflows–Agents–Tools design separates AI judgement from deterministic execution — trustworthy enough for clinical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7308949"/>
            <a:ext cx="4991100" cy="36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29"/>
              </a:lnSpc>
            </a:pPr>
            <a:r>
              <a:rPr sz="922" b="0" i="0">
                <a:solidFill>
                  <a:srgbClr val="A4BBBB"/>
                </a:solidFill>
                <a:latin typeface="Archivo"/>
              </a:rPr>
              <a:t>Learning analytics purpose-built for clinical education: at-risk detection, retention scoring and learning-velocity — live, not at term’s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8599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Grounded in learning</a:t>
            </a:r>
          </a:p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science, not novelty.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88704"/>
            <a:ext cx="5715000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16313B"/>
                </a:solidFill>
                <a:latin typeface="Archivo"/>
              </a:rPr>
              <a:t>Every design decision in EyeBot maps to an established principle of how clinicians actually learn and retain.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900" y="5963543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Retrieval &amp; spacing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5963543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Socratic scaffolding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" y="6612136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Case-based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1025" y="6612136"/>
            <a:ext cx="2543175" cy="14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41"/>
              </a:lnSpc>
            </a:pPr>
            <a:r>
              <a:rPr sz="1087" b="1" i="0">
                <a:solidFill>
                  <a:srgbClr val="07151C"/>
                </a:solidFill>
                <a:latin typeface="Fraunces"/>
              </a:rPr>
              <a:t>Formative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" y="6137077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SM-2 spaced repetition fights the forgetting curve — each review lengthens durable retention.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1025" y="6137077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The tutor explains mechanism, then checks understanding — active recall over passive reading.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900" y="6785670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Simulations rehearse the full clinical chain: history, investigation, diagnosis, management.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1025" y="6785670"/>
            <a:ext cx="2543175" cy="322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1"/>
              </a:lnSpc>
            </a:pPr>
            <a:r>
              <a:rPr sz="847" b="0" i="0">
                <a:solidFill>
                  <a:srgbClr val="5D7480"/>
                </a:solidFill>
                <a:latin typeface="Archivo"/>
              </a:rPr>
              <a:t>Rubric scores and targeted cards turn every mistake into the learner’s next rep.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429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One engine. Every learner.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058739"/>
            <a:ext cx="5905500" cy="640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12" b="0" i="0">
                <a:solidFill>
                  <a:srgbClr val="16313B"/>
                </a:solidFill>
                <a:latin typeface="Archivo"/>
              </a:rPr>
              <a:t>EyeBot adapts its content, cases and rubric to each role — and the same engine extends across specialties and institutions. What begins with SNEC’s programme scales to the whole of ophthalmic education.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9352657"/>
            <a:ext cx="6286500" cy="658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07151C"/>
                </a:solidFill>
                <a:latin typeface="Fraunces"/>
              </a:rPr>
              <a:t>From a single programme to an </a:t>
            </a:r>
            <a:r>
              <a:rPr sz="2025" b="0" i="0">
                <a:solidFill>
                  <a:srgbClr val="0C7D72"/>
                </a:solidFill>
                <a:latin typeface="Fraunces"/>
              </a:rPr>
              <a:t>institution-wide standard</a:t>
            </a:r>
            <a:r>
              <a:rPr sz="2025" b="0" i="0">
                <a:solidFill>
                  <a:srgbClr val="07151C"/>
                </a:solidFill>
                <a:latin typeface="Fraunces"/>
              </a:rPr>
              <a:t> for how eye-care professionals are trained.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903" y="3822948"/>
            <a:ext cx="969169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Medical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719" y="3822948"/>
            <a:ext cx="113362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Optometry Students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688" y="3822948"/>
            <a:ext cx="113362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Ophthalmology Residents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8004" y="3822948"/>
            <a:ext cx="1094482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Ophthalmic Nurses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2476" y="3822948"/>
            <a:ext cx="113362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25"/>
              </a:lnSpc>
            </a:pPr>
            <a:r>
              <a:rPr sz="937" b="1" i="0">
                <a:solidFill>
                  <a:srgbClr val="07151C"/>
                </a:solidFill>
                <a:latin typeface="Fraunces"/>
              </a:rPr>
              <a:t>Allied Health · OA / OT / PSA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644" y="4003923"/>
            <a:ext cx="1017687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Eye-rotation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4474" y="4146798"/>
            <a:ext cx="1045964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Refraction &amp; primary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7939" y="4146798"/>
            <a:ext cx="1006971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Clinical decision-making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507" y="4003923"/>
            <a:ext cx="1133624" cy="2610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Peri-operative &amp; patient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3014" y="4146798"/>
            <a:ext cx="1092398" cy="130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29"/>
              </a:lnSpc>
            </a:pPr>
            <a:r>
              <a:rPr sz="735" b="0" i="0">
                <a:solidFill>
                  <a:srgbClr val="5D7480"/>
                </a:solidFill>
                <a:latin typeface="Archivo"/>
              </a:rPr>
              <a:t>Technical &amp; assisting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575" y="5020270"/>
            <a:ext cx="1689050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63"/>
              </a:lnSpc>
            </a:pPr>
            <a:r>
              <a:rPr sz="1012" b="1" i="0">
                <a:solidFill>
                  <a:srgbClr val="07151C"/>
                </a:solidFill>
                <a:latin typeface="Fraunces"/>
              </a:rPr>
              <a:t>Role-aware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6825" y="5020270"/>
            <a:ext cx="1689050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63"/>
              </a:lnSpc>
            </a:pPr>
            <a:r>
              <a:rPr sz="1012" b="1" i="0">
                <a:solidFill>
                  <a:srgbClr val="07151C"/>
                </a:solidFill>
                <a:latin typeface="Fraunces"/>
              </a:rPr>
              <a:t>Specialty-extensible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3076" y="5020270"/>
            <a:ext cx="1689050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63"/>
              </a:lnSpc>
            </a:pPr>
            <a:r>
              <a:rPr sz="1012" b="1" i="0">
                <a:solidFill>
                  <a:srgbClr val="07151C"/>
                </a:solidFill>
                <a:latin typeface="Fraunces"/>
              </a:rPr>
              <a:t>Institution-ready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75" y="5202882"/>
            <a:ext cx="1689050" cy="462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810" b="0" i="0">
                <a:solidFill>
                  <a:srgbClr val="5D7480"/>
                </a:solidFill>
                <a:latin typeface="Archivo"/>
              </a:rPr>
              <a:t>Content, case libraries and rubrics tuned to each learner’s scope of practice.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6825" y="5202882"/>
            <a:ext cx="1689050" cy="462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810" b="0" i="0">
                <a:solidFill>
                  <a:srgbClr val="5D7480"/>
                </a:solidFill>
                <a:latin typeface="Archivo"/>
              </a:rPr>
              <a:t>The same engine accepts new curricula — glaucoma, retina, paediatrics and beyond.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3076" y="5202882"/>
            <a:ext cx="1689050" cy="4625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810" b="0" i="0">
                <a:solidFill>
                  <a:srgbClr val="5D7480"/>
                </a:solidFill>
                <a:latin typeface="Archivo"/>
              </a:rPr>
              <a:t>PDPA-compliant consent, bcrypt credentials and role-based access — privacy by design.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429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07151C"/>
                </a:solidFill>
                <a:latin typeface="Fraunces"/>
              </a:rPr>
              <a:t>From prototype to proof.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9023598"/>
            <a:ext cx="6305550" cy="987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07151C"/>
                </a:solidFill>
                <a:latin typeface="Fraunces"/>
              </a:rPr>
              <a:t>Because impact is </a:t>
            </a:r>
            <a:r>
              <a:rPr sz="2025" b="0" i="0">
                <a:solidFill>
                  <a:srgbClr val="0C7D72"/>
                </a:solidFill>
                <a:latin typeface="Fraunces"/>
              </a:rPr>
              <a:t>measured, not asserted</a:t>
            </a:r>
            <a:r>
              <a:rPr sz="2025" b="0" i="0">
                <a:solidFill>
                  <a:srgbClr val="07151C"/>
                </a:solidFill>
                <a:latin typeface="Fraunces"/>
              </a:rPr>
              <a:t>, the pilot doubles as the evidence base for the award submission itself.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0928" y="2596902"/>
            <a:ext cx="109150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Educational soundness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PEDAGOGY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0928" y="3358902"/>
            <a:ext cx="1091505" cy="754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Effectiveness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0928" y="4113014"/>
            <a:ext cx="109150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User experience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ENGAGEMENT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0928" y="4875014"/>
            <a:ext cx="1091505" cy="749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>
                <a:solidFill>
                  <a:srgbClr val="07151C"/>
                </a:solidFill>
                <a:latin typeface="Fraunces"/>
              </a:rPr>
              <a:t>Significance</a:t>
            </a:r>
          </a:p>
          <a:p>
            <a:pPr algn="l">
              <a:lnSpc>
                <a:spcPts val="1462"/>
              </a:lnSpc>
            </a:pPr>
            <a:r>
              <a:rPr sz="1125" b="0" i="0">
                <a:solidFill>
                  <a:srgbClr val="0C7D72"/>
                </a:solidFill>
                <a:latin typeface="Fraunces"/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42433" y="2596902"/>
            <a:ext cx="1991767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Curriculum-grounded; SM-2 spacing; Socratic + case-based design rooted in learning science.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2433" y="3358902"/>
            <a:ext cx="1991767" cy="754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Closes gaps in a measured loop; analytics quantify uplift at learner and cohort level.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2433" y="4113014"/>
            <a:ext cx="1991767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Polished, gamified and mobile-friendly, with daily check-ins that build habit.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2433" y="4875014"/>
            <a:ext cx="1991767" cy="749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First AI companion spanning the ophthalmic learning continuum; scalable across SingHealth.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2706439"/>
            <a:ext cx="2593628" cy="513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48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A representative intake of ophthalmic trainees over an 8–12 week module, benchmarked against a prior cohort as historical control.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3819971"/>
            <a:ext cx="2593628" cy="513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48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Pre/post knowledge test · case-rubric progression · flashcard retention · engagement (active days &amp; streaks) · educator time saved · learner satisfaction.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4933504"/>
            <a:ext cx="2593628" cy="513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48"/>
              </a:lnSpc>
            </a:pPr>
            <a:r>
              <a:rPr sz="869" b="0" i="0">
                <a:solidFill>
                  <a:srgbClr val="16313B"/>
                </a:solidFill>
                <a:latin typeface="Archivo"/>
              </a:rPr>
              <a:t>Baseline → guided daily use → measured uplift, with the analytics layer capturing evidence automatically throughout.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850" cy="10696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8650" y="1495425"/>
            <a:ext cx="6305550" cy="429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6"/>
              </a:lnSpc>
            </a:pPr>
            <a:r>
              <a:rPr sz="3225" b="1" i="0">
                <a:solidFill>
                  <a:srgbClr val="EAFFFB"/>
                </a:solidFill>
                <a:latin typeface="Fraunces"/>
              </a:rPr>
              <a:t>Where this goes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4047679"/>
            <a:ext cx="6305550" cy="1316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2025" b="0" i="0">
                <a:solidFill>
                  <a:srgbClr val="EAFFFB"/>
                </a:solidFill>
                <a:latin typeface="Fraunces"/>
              </a:rPr>
              <a:t>SNEC EyeBot turns a fixed curriculum into a </a:t>
            </a:r>
            <a:r>
              <a:rPr sz="2025" b="0" i="0">
                <a:solidFill>
                  <a:srgbClr val="2FE0C4"/>
                </a:solidFill>
                <a:latin typeface="Fraunces"/>
              </a:rPr>
              <a:t>living, personalised and measurable</a:t>
            </a:r>
            <a:r>
              <a:rPr sz="2025" b="0" i="0">
                <a:solidFill>
                  <a:srgbClr val="EAFFFB"/>
                </a:solidFill>
                <a:latin typeface="Fraunces"/>
              </a:rPr>
              <a:t> learning experience — and positions SNEC at the forefront of AI-enabled clinical education.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SNEC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5038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Multi-role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Specialty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7812" y="2792164"/>
            <a:ext cx="1404938" cy="153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EAFFFB"/>
                </a:solidFill>
                <a:latin typeface="Fraunces"/>
              </a:rPr>
              <a:t>SingHealth-wide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Run with a live intake; capture the outcome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5038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Extend across every eye-care learner type.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1425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New curricula, richer simulation media, UI refresh.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7812" y="2983557"/>
            <a:ext cx="1423988" cy="292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794" b="0" i="0">
                <a:solidFill>
                  <a:srgbClr val="9FB6B6"/>
                </a:solidFill>
                <a:latin typeface="Archivo"/>
              </a:rPr>
              <a:t>Other institutions on the same engine.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