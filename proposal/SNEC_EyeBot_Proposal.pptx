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7562850" cy="106965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F7CF8F-EBD4-49DF-9E28-CFE6BF28576D}" v="3" dt="2026-06-02T06:33:46.5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2025" y="-18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leb Teo" userId="14a9419bcaefa08b" providerId="LiveId" clId="{BB2F0D6D-D372-42B1-8735-753E9DF877CB}"/>
    <pc:docChg chg="undo custSel modSld">
      <pc:chgData name="Caleb Teo" userId="14a9419bcaefa08b" providerId="LiveId" clId="{BB2F0D6D-D372-42B1-8735-753E9DF877CB}" dt="2026-06-02T06:48:17.402" v="267" actId="255"/>
      <pc:docMkLst>
        <pc:docMk/>
      </pc:docMkLst>
      <pc:sldChg chg="modSp mod">
        <pc:chgData name="Caleb Teo" userId="14a9419bcaefa08b" providerId="LiveId" clId="{BB2F0D6D-D372-42B1-8735-753E9DF877CB}" dt="2026-06-02T06:33:36.349" v="32" actId="1076"/>
        <pc:sldMkLst>
          <pc:docMk/>
          <pc:sldMk cId="0" sldId="256"/>
        </pc:sldMkLst>
        <pc:spChg chg="mod">
          <ac:chgData name="Caleb Teo" userId="14a9419bcaefa08b" providerId="LiveId" clId="{BB2F0D6D-D372-42B1-8735-753E9DF877CB}" dt="2026-06-02T06:33:08.393" v="27" actId="10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Caleb Teo" userId="14a9419bcaefa08b" providerId="LiveId" clId="{BB2F0D6D-D372-42B1-8735-753E9DF877CB}" dt="2026-06-02T06:33:36.349" v="32" actId="1076"/>
          <ac:spMkLst>
            <pc:docMk/>
            <pc:sldMk cId="0" sldId="256"/>
            <ac:spMk id="4" creationId="{00000000-0000-0000-0000-000000000000}"/>
          </ac:spMkLst>
        </pc:spChg>
        <pc:picChg chg="mod">
          <ac:chgData name="Caleb Teo" userId="14a9419bcaefa08b" providerId="LiveId" clId="{BB2F0D6D-D372-42B1-8735-753E9DF877CB}" dt="2026-06-02T06:33:22.022" v="29" actId="1076"/>
          <ac:picMkLst>
            <pc:docMk/>
            <pc:sldMk cId="0" sldId="256"/>
            <ac:picMk id="2" creationId="{00000000-0000-0000-0000-000000000000}"/>
          </ac:picMkLst>
        </pc:picChg>
      </pc:sldChg>
      <pc:sldChg chg="modSp mod">
        <pc:chgData name="Caleb Teo" userId="14a9419bcaefa08b" providerId="LiveId" clId="{BB2F0D6D-D372-42B1-8735-753E9DF877CB}" dt="2026-06-02T06:36:03.861" v="68" actId="1076"/>
        <pc:sldMkLst>
          <pc:docMk/>
          <pc:sldMk cId="0" sldId="257"/>
        </pc:sldMkLst>
        <pc:spChg chg="mod">
          <ac:chgData name="Caleb Teo" userId="14a9419bcaefa08b" providerId="LiveId" clId="{BB2F0D6D-D372-42B1-8735-753E9DF877CB}" dt="2026-06-02T06:35:54.898" v="67" actId="2710"/>
          <ac:spMkLst>
            <pc:docMk/>
            <pc:sldMk cId="0" sldId="257"/>
            <ac:spMk id="3" creationId="{00000000-0000-0000-0000-000000000000}"/>
          </ac:spMkLst>
        </pc:spChg>
        <pc:spChg chg="mod">
          <ac:chgData name="Caleb Teo" userId="14a9419bcaefa08b" providerId="LiveId" clId="{BB2F0D6D-D372-42B1-8735-753E9DF877CB}" dt="2026-06-02T06:36:03.861" v="68" actId="1076"/>
          <ac:spMkLst>
            <pc:docMk/>
            <pc:sldMk cId="0" sldId="257"/>
            <ac:spMk id="4" creationId="{00000000-0000-0000-0000-000000000000}"/>
          </ac:spMkLst>
        </pc:spChg>
        <pc:picChg chg="mod">
          <ac:chgData name="Caleb Teo" userId="14a9419bcaefa08b" providerId="LiveId" clId="{BB2F0D6D-D372-42B1-8735-753E9DF877CB}" dt="2026-06-02T06:35:17.648" v="63" actId="1076"/>
          <ac:picMkLst>
            <pc:docMk/>
            <pc:sldMk cId="0" sldId="257"/>
            <ac:picMk id="2" creationId="{00000000-0000-0000-0000-000000000000}"/>
          </ac:picMkLst>
        </pc:picChg>
      </pc:sldChg>
      <pc:sldChg chg="modSp mod">
        <pc:chgData name="Caleb Teo" userId="14a9419bcaefa08b" providerId="LiveId" clId="{BB2F0D6D-D372-42B1-8735-753E9DF877CB}" dt="2026-06-02T06:39:15.277" v="105" actId="1076"/>
        <pc:sldMkLst>
          <pc:docMk/>
          <pc:sldMk cId="0" sldId="258"/>
        </pc:sldMkLst>
        <pc:spChg chg="mod">
          <ac:chgData name="Caleb Teo" userId="14a9419bcaefa08b" providerId="LiveId" clId="{BB2F0D6D-D372-42B1-8735-753E9DF877CB}" dt="2026-06-02T06:36:13.825" v="70" actId="1076"/>
          <ac:spMkLst>
            <pc:docMk/>
            <pc:sldMk cId="0" sldId="258"/>
            <ac:spMk id="3" creationId="{00000000-0000-0000-0000-000000000000}"/>
          </ac:spMkLst>
        </pc:spChg>
        <pc:spChg chg="mod">
          <ac:chgData name="Caleb Teo" userId="14a9419bcaefa08b" providerId="LiveId" clId="{BB2F0D6D-D372-42B1-8735-753E9DF877CB}" dt="2026-06-02T06:39:15.277" v="105" actId="1076"/>
          <ac:spMkLst>
            <pc:docMk/>
            <pc:sldMk cId="0" sldId="258"/>
            <ac:spMk id="4" creationId="{00000000-0000-0000-0000-000000000000}"/>
          </ac:spMkLst>
        </pc:spChg>
        <pc:spChg chg="mod">
          <ac:chgData name="Caleb Teo" userId="14a9419bcaefa08b" providerId="LiveId" clId="{BB2F0D6D-D372-42B1-8735-753E9DF877CB}" dt="2026-06-02T06:36:32.279" v="78" actId="1076"/>
          <ac:spMkLst>
            <pc:docMk/>
            <pc:sldMk cId="0" sldId="258"/>
            <ac:spMk id="6" creationId="{00000000-0000-0000-0000-000000000000}"/>
          </ac:spMkLst>
        </pc:spChg>
        <pc:spChg chg="mod">
          <ac:chgData name="Caleb Teo" userId="14a9419bcaefa08b" providerId="LiveId" clId="{BB2F0D6D-D372-42B1-8735-753E9DF877CB}" dt="2026-06-02T06:37:02.054" v="86" actId="1076"/>
          <ac:spMkLst>
            <pc:docMk/>
            <pc:sldMk cId="0" sldId="258"/>
            <ac:spMk id="7" creationId="{00000000-0000-0000-0000-000000000000}"/>
          </ac:spMkLst>
        </pc:spChg>
        <pc:spChg chg="mod">
          <ac:chgData name="Caleb Teo" userId="14a9419bcaefa08b" providerId="LiveId" clId="{BB2F0D6D-D372-42B1-8735-753E9DF877CB}" dt="2026-06-02T06:37:18.873" v="90" actId="1076"/>
          <ac:spMkLst>
            <pc:docMk/>
            <pc:sldMk cId="0" sldId="258"/>
            <ac:spMk id="8" creationId="{00000000-0000-0000-0000-000000000000}"/>
          </ac:spMkLst>
        </pc:spChg>
        <pc:spChg chg="mod">
          <ac:chgData name="Caleb Teo" userId="14a9419bcaefa08b" providerId="LiveId" clId="{BB2F0D6D-D372-42B1-8735-753E9DF877CB}" dt="2026-06-02T06:37:32.912" v="94" actId="1076"/>
          <ac:spMkLst>
            <pc:docMk/>
            <pc:sldMk cId="0" sldId="258"/>
            <ac:spMk id="9" creationId="{00000000-0000-0000-0000-000000000000}"/>
          </ac:spMkLst>
        </pc:spChg>
        <pc:spChg chg="mod">
          <ac:chgData name="Caleb Teo" userId="14a9419bcaefa08b" providerId="LiveId" clId="{BB2F0D6D-D372-42B1-8735-753E9DF877CB}" dt="2026-06-02T06:36:43.525" v="81" actId="1076"/>
          <ac:spMkLst>
            <pc:docMk/>
            <pc:sldMk cId="0" sldId="258"/>
            <ac:spMk id="10" creationId="{00000000-0000-0000-0000-000000000000}"/>
          </ac:spMkLst>
        </pc:spChg>
        <pc:spChg chg="mod">
          <ac:chgData name="Caleb Teo" userId="14a9419bcaefa08b" providerId="LiveId" clId="{BB2F0D6D-D372-42B1-8735-753E9DF877CB}" dt="2026-06-02T06:37:05.086" v="87" actId="1076"/>
          <ac:spMkLst>
            <pc:docMk/>
            <pc:sldMk cId="0" sldId="258"/>
            <ac:spMk id="11" creationId="{00000000-0000-0000-0000-000000000000}"/>
          </ac:spMkLst>
        </pc:spChg>
        <pc:spChg chg="mod">
          <ac:chgData name="Caleb Teo" userId="14a9419bcaefa08b" providerId="LiveId" clId="{BB2F0D6D-D372-42B1-8735-753E9DF877CB}" dt="2026-06-02T06:37:22.658" v="91" actId="1076"/>
          <ac:spMkLst>
            <pc:docMk/>
            <pc:sldMk cId="0" sldId="258"/>
            <ac:spMk id="12" creationId="{00000000-0000-0000-0000-000000000000}"/>
          </ac:spMkLst>
        </pc:spChg>
        <pc:spChg chg="mod">
          <ac:chgData name="Caleb Teo" userId="14a9419bcaefa08b" providerId="LiveId" clId="{BB2F0D6D-D372-42B1-8735-753E9DF877CB}" dt="2026-06-02T06:37:35.711" v="95" actId="1076"/>
          <ac:spMkLst>
            <pc:docMk/>
            <pc:sldMk cId="0" sldId="258"/>
            <ac:spMk id="13" creationId="{00000000-0000-0000-0000-000000000000}"/>
          </ac:spMkLst>
        </pc:spChg>
        <pc:picChg chg="mod">
          <ac:chgData name="Caleb Teo" userId="14a9419bcaefa08b" providerId="LiveId" clId="{BB2F0D6D-D372-42B1-8735-753E9DF877CB}" dt="2026-06-02T06:39:04.330" v="104" actId="1076"/>
          <ac:picMkLst>
            <pc:docMk/>
            <pc:sldMk cId="0" sldId="258"/>
            <ac:picMk id="2" creationId="{00000000-0000-0000-0000-000000000000}"/>
          </ac:picMkLst>
        </pc:picChg>
      </pc:sldChg>
      <pc:sldChg chg="addSp modSp mod">
        <pc:chgData name="Caleb Teo" userId="14a9419bcaefa08b" providerId="LiveId" clId="{BB2F0D6D-D372-42B1-8735-753E9DF877CB}" dt="2026-06-02T06:40:03.749" v="155" actId="1076"/>
        <pc:sldMkLst>
          <pc:docMk/>
          <pc:sldMk cId="0" sldId="259"/>
        </pc:sldMkLst>
        <pc:spChg chg="mod">
          <ac:chgData name="Caleb Teo" userId="14a9419bcaefa08b" providerId="LiveId" clId="{BB2F0D6D-D372-42B1-8735-753E9DF877CB}" dt="2026-06-02T06:39:51.901" v="153" actId="20577"/>
          <ac:spMkLst>
            <pc:docMk/>
            <pc:sldMk cId="0" sldId="259"/>
            <ac:spMk id="5" creationId="{00000000-0000-0000-0000-000000000000}"/>
          </ac:spMkLst>
        </pc:spChg>
        <pc:spChg chg="mod">
          <ac:chgData name="Caleb Teo" userId="14a9419bcaefa08b" providerId="LiveId" clId="{BB2F0D6D-D372-42B1-8735-753E9DF877CB}" dt="2026-06-02T06:39:21.914" v="109" actId="403"/>
          <ac:spMkLst>
            <pc:docMk/>
            <pc:sldMk cId="0" sldId="259"/>
            <ac:spMk id="8" creationId="{00000000-0000-0000-0000-000000000000}"/>
          </ac:spMkLst>
        </pc:spChg>
        <pc:spChg chg="mod">
          <ac:chgData name="Caleb Teo" userId="14a9419bcaefa08b" providerId="LiveId" clId="{BB2F0D6D-D372-42B1-8735-753E9DF877CB}" dt="2026-06-02T06:39:27.359" v="113" actId="403"/>
          <ac:spMkLst>
            <pc:docMk/>
            <pc:sldMk cId="0" sldId="259"/>
            <ac:spMk id="9" creationId="{00000000-0000-0000-0000-000000000000}"/>
          </ac:spMkLst>
        </pc:spChg>
        <pc:spChg chg="mod">
          <ac:chgData name="Caleb Teo" userId="14a9419bcaefa08b" providerId="LiveId" clId="{BB2F0D6D-D372-42B1-8735-753E9DF877CB}" dt="2026-06-02T06:39:32.246" v="118" actId="403"/>
          <ac:spMkLst>
            <pc:docMk/>
            <pc:sldMk cId="0" sldId="259"/>
            <ac:spMk id="10" creationId="{00000000-0000-0000-0000-000000000000}"/>
          </ac:spMkLst>
        </pc:spChg>
        <pc:picChg chg="mod">
          <ac:chgData name="Caleb Teo" userId="14a9419bcaefa08b" providerId="LiveId" clId="{BB2F0D6D-D372-42B1-8735-753E9DF877CB}" dt="2026-06-02T06:40:03.749" v="155" actId="1076"/>
          <ac:picMkLst>
            <pc:docMk/>
            <pc:sldMk cId="0" sldId="259"/>
            <ac:picMk id="2" creationId="{00000000-0000-0000-0000-000000000000}"/>
          </ac:picMkLst>
        </pc:picChg>
        <pc:picChg chg="add mod">
          <ac:chgData name="Caleb Teo" userId="14a9419bcaefa08b" providerId="LiveId" clId="{BB2F0D6D-D372-42B1-8735-753E9DF877CB}" dt="2026-06-02T06:32:28.174" v="8" actId="1076"/>
          <ac:picMkLst>
            <pc:docMk/>
            <pc:sldMk cId="0" sldId="259"/>
            <ac:picMk id="12" creationId="{6B2056AB-DC57-EEAF-64F8-55ED8AC55EE7}"/>
          </ac:picMkLst>
        </pc:picChg>
      </pc:sldChg>
      <pc:sldChg chg="modSp mod">
        <pc:chgData name="Caleb Teo" userId="14a9419bcaefa08b" providerId="LiveId" clId="{BB2F0D6D-D372-42B1-8735-753E9DF877CB}" dt="2026-06-02T06:42:08.319" v="183" actId="404"/>
        <pc:sldMkLst>
          <pc:docMk/>
          <pc:sldMk cId="0" sldId="260"/>
        </pc:sldMkLst>
        <pc:spChg chg="mod">
          <ac:chgData name="Caleb Teo" userId="14a9419bcaefa08b" providerId="LiveId" clId="{BB2F0D6D-D372-42B1-8735-753E9DF877CB}" dt="2026-06-02T06:42:08.319" v="183" actId="404"/>
          <ac:spMkLst>
            <pc:docMk/>
            <pc:sldMk cId="0" sldId="260"/>
            <ac:spMk id="4" creationId="{00000000-0000-0000-0000-000000000000}"/>
          </ac:spMkLst>
        </pc:spChg>
        <pc:spChg chg="mod">
          <ac:chgData name="Caleb Teo" userId="14a9419bcaefa08b" providerId="LiveId" clId="{BB2F0D6D-D372-42B1-8735-753E9DF877CB}" dt="2026-06-02T06:41:40.082" v="176" actId="14100"/>
          <ac:spMkLst>
            <pc:docMk/>
            <pc:sldMk cId="0" sldId="260"/>
            <ac:spMk id="11" creationId="{00000000-0000-0000-0000-000000000000}"/>
          </ac:spMkLst>
        </pc:spChg>
        <pc:spChg chg="mod">
          <ac:chgData name="Caleb Teo" userId="14a9419bcaefa08b" providerId="LiveId" clId="{BB2F0D6D-D372-42B1-8735-753E9DF877CB}" dt="2026-06-02T06:41:44.064" v="177" actId="14100"/>
          <ac:spMkLst>
            <pc:docMk/>
            <pc:sldMk cId="0" sldId="260"/>
            <ac:spMk id="12" creationId="{00000000-0000-0000-0000-000000000000}"/>
          </ac:spMkLst>
        </pc:spChg>
        <pc:spChg chg="mod">
          <ac:chgData name="Caleb Teo" userId="14a9419bcaefa08b" providerId="LiveId" clId="{BB2F0D6D-D372-42B1-8735-753E9DF877CB}" dt="2026-06-02T06:41:48.138" v="178" actId="14100"/>
          <ac:spMkLst>
            <pc:docMk/>
            <pc:sldMk cId="0" sldId="260"/>
            <ac:spMk id="13" creationId="{00000000-0000-0000-0000-000000000000}"/>
          </ac:spMkLst>
        </pc:spChg>
        <pc:spChg chg="mod">
          <ac:chgData name="Caleb Teo" userId="14a9419bcaefa08b" providerId="LiveId" clId="{BB2F0D6D-D372-42B1-8735-753E9DF877CB}" dt="2026-06-02T06:41:51.628" v="179" actId="14100"/>
          <ac:spMkLst>
            <pc:docMk/>
            <pc:sldMk cId="0" sldId="260"/>
            <ac:spMk id="14" creationId="{00000000-0000-0000-0000-000000000000}"/>
          </ac:spMkLst>
        </pc:spChg>
        <pc:spChg chg="mod">
          <ac:chgData name="Caleb Teo" userId="14a9419bcaefa08b" providerId="LiveId" clId="{BB2F0D6D-D372-42B1-8735-753E9DF877CB}" dt="2026-06-02T06:41:54.311" v="180" actId="14100"/>
          <ac:spMkLst>
            <pc:docMk/>
            <pc:sldMk cId="0" sldId="260"/>
            <ac:spMk id="15" creationId="{00000000-0000-0000-0000-000000000000}"/>
          </ac:spMkLst>
        </pc:spChg>
      </pc:sldChg>
      <pc:sldChg chg="modSp mod">
        <pc:chgData name="Caleb Teo" userId="14a9419bcaefa08b" providerId="LiveId" clId="{BB2F0D6D-D372-42B1-8735-753E9DF877CB}" dt="2026-06-02T06:48:17.402" v="267" actId="255"/>
        <pc:sldMkLst>
          <pc:docMk/>
          <pc:sldMk cId="0" sldId="261"/>
        </pc:sldMkLst>
        <pc:spChg chg="mod">
          <ac:chgData name="Caleb Teo" userId="14a9419bcaefa08b" providerId="LiveId" clId="{BB2F0D6D-D372-42B1-8735-753E9DF877CB}" dt="2026-06-02T06:42:21.618" v="188" actId="403"/>
          <ac:spMkLst>
            <pc:docMk/>
            <pc:sldMk cId="0" sldId="261"/>
            <ac:spMk id="4" creationId="{00000000-0000-0000-0000-000000000000}"/>
          </ac:spMkLst>
        </pc:spChg>
        <pc:spChg chg="mod">
          <ac:chgData name="Caleb Teo" userId="14a9419bcaefa08b" providerId="LiveId" clId="{BB2F0D6D-D372-42B1-8735-753E9DF877CB}" dt="2026-06-02T06:42:44.792" v="194" actId="1076"/>
          <ac:spMkLst>
            <pc:docMk/>
            <pc:sldMk cId="0" sldId="261"/>
            <ac:spMk id="7" creationId="{00000000-0000-0000-0000-000000000000}"/>
          </ac:spMkLst>
        </pc:spChg>
        <pc:spChg chg="mod">
          <ac:chgData name="Caleb Teo" userId="14a9419bcaefa08b" providerId="LiveId" clId="{BB2F0D6D-D372-42B1-8735-753E9DF877CB}" dt="2026-06-02T06:48:05.342" v="265" actId="1076"/>
          <ac:spMkLst>
            <pc:docMk/>
            <pc:sldMk cId="0" sldId="261"/>
            <ac:spMk id="8" creationId="{00000000-0000-0000-0000-000000000000}"/>
          </ac:spMkLst>
        </pc:spChg>
        <pc:spChg chg="mod">
          <ac:chgData name="Caleb Teo" userId="14a9419bcaefa08b" providerId="LiveId" clId="{BB2F0D6D-D372-42B1-8735-753E9DF877CB}" dt="2026-06-02T06:42:35.056" v="193" actId="14100"/>
          <ac:spMkLst>
            <pc:docMk/>
            <pc:sldMk cId="0" sldId="261"/>
            <ac:spMk id="9" creationId="{00000000-0000-0000-0000-000000000000}"/>
          </ac:spMkLst>
        </pc:spChg>
        <pc:spChg chg="mod">
          <ac:chgData name="Caleb Teo" userId="14a9419bcaefa08b" providerId="LiveId" clId="{BB2F0D6D-D372-42B1-8735-753E9DF877CB}" dt="2026-06-02T06:48:17.402" v="267" actId="255"/>
          <ac:spMkLst>
            <pc:docMk/>
            <pc:sldMk cId="0" sldId="261"/>
            <ac:spMk id="10" creationId="{00000000-0000-0000-0000-000000000000}"/>
          </ac:spMkLst>
        </pc:spChg>
        <pc:spChg chg="mod">
          <ac:chgData name="Caleb Teo" userId="14a9419bcaefa08b" providerId="LiveId" clId="{BB2F0D6D-D372-42B1-8735-753E9DF877CB}" dt="2026-06-02T06:42:48.547" v="195" actId="255"/>
          <ac:spMkLst>
            <pc:docMk/>
            <pc:sldMk cId="0" sldId="261"/>
            <ac:spMk id="11" creationId="{00000000-0000-0000-0000-000000000000}"/>
          </ac:spMkLst>
        </pc:spChg>
        <pc:spChg chg="mod">
          <ac:chgData name="Caleb Teo" userId="14a9419bcaefa08b" providerId="LiveId" clId="{BB2F0D6D-D372-42B1-8735-753E9DF877CB}" dt="2026-06-02T06:48:13.011" v="266" actId="255"/>
          <ac:spMkLst>
            <pc:docMk/>
            <pc:sldMk cId="0" sldId="261"/>
            <ac:spMk id="12" creationId="{00000000-0000-0000-0000-000000000000}"/>
          </ac:spMkLst>
        </pc:spChg>
      </pc:sldChg>
      <pc:sldChg chg="modSp mod">
        <pc:chgData name="Caleb Teo" userId="14a9419bcaefa08b" providerId="LiveId" clId="{BB2F0D6D-D372-42B1-8735-753E9DF877CB}" dt="2026-06-02T06:47:44.516" v="263" actId="403"/>
        <pc:sldMkLst>
          <pc:docMk/>
          <pc:sldMk cId="0" sldId="262"/>
        </pc:sldMkLst>
        <pc:spChg chg="mod">
          <ac:chgData name="Caleb Teo" userId="14a9419bcaefa08b" providerId="LiveId" clId="{BB2F0D6D-D372-42B1-8735-753E9DF877CB}" dt="2026-06-02T06:43:29.562" v="202" actId="403"/>
          <ac:spMkLst>
            <pc:docMk/>
            <pc:sldMk cId="0" sldId="262"/>
            <ac:spMk id="4" creationId="{00000000-0000-0000-0000-000000000000}"/>
          </ac:spMkLst>
        </pc:spChg>
        <pc:spChg chg="mod">
          <ac:chgData name="Caleb Teo" userId="14a9419bcaefa08b" providerId="LiveId" clId="{BB2F0D6D-D372-42B1-8735-753E9DF877CB}" dt="2026-06-02T06:47:36.327" v="259" actId="403"/>
          <ac:spMkLst>
            <pc:docMk/>
            <pc:sldMk cId="0" sldId="262"/>
            <ac:spMk id="6" creationId="{00000000-0000-0000-0000-000000000000}"/>
          </ac:spMkLst>
        </pc:spChg>
        <pc:spChg chg="mod">
          <ac:chgData name="Caleb Teo" userId="14a9419bcaefa08b" providerId="LiveId" clId="{BB2F0D6D-D372-42B1-8735-753E9DF877CB}" dt="2026-06-02T06:47:29.759" v="255" actId="403"/>
          <ac:spMkLst>
            <pc:docMk/>
            <pc:sldMk cId="0" sldId="262"/>
            <ac:spMk id="7" creationId="{00000000-0000-0000-0000-000000000000}"/>
          </ac:spMkLst>
        </pc:spChg>
        <pc:spChg chg="mod">
          <ac:chgData name="Caleb Teo" userId="14a9419bcaefa08b" providerId="LiveId" clId="{BB2F0D6D-D372-42B1-8735-753E9DF877CB}" dt="2026-06-02T06:47:33.330" v="257" actId="403"/>
          <ac:spMkLst>
            <pc:docMk/>
            <pc:sldMk cId="0" sldId="262"/>
            <ac:spMk id="8" creationId="{00000000-0000-0000-0000-000000000000}"/>
          </ac:spMkLst>
        </pc:spChg>
        <pc:spChg chg="mod">
          <ac:chgData name="Caleb Teo" userId="14a9419bcaefa08b" providerId="LiveId" clId="{BB2F0D6D-D372-42B1-8735-753E9DF877CB}" dt="2026-06-02T06:47:39.136" v="261" actId="403"/>
          <ac:spMkLst>
            <pc:docMk/>
            <pc:sldMk cId="0" sldId="262"/>
            <ac:spMk id="9" creationId="{00000000-0000-0000-0000-000000000000}"/>
          </ac:spMkLst>
        </pc:spChg>
        <pc:spChg chg="mod">
          <ac:chgData name="Caleb Teo" userId="14a9419bcaefa08b" providerId="LiveId" clId="{BB2F0D6D-D372-42B1-8735-753E9DF877CB}" dt="2026-06-02T06:47:44.516" v="263" actId="403"/>
          <ac:spMkLst>
            <pc:docMk/>
            <pc:sldMk cId="0" sldId="262"/>
            <ac:spMk id="10" creationId="{00000000-0000-0000-0000-000000000000}"/>
          </ac:spMkLst>
        </pc:spChg>
        <pc:spChg chg="mod">
          <ac:chgData name="Caleb Teo" userId="14a9419bcaefa08b" providerId="LiveId" clId="{BB2F0D6D-D372-42B1-8735-753E9DF877CB}" dt="2026-06-02T06:44:48.381" v="222" actId="255"/>
          <ac:spMkLst>
            <pc:docMk/>
            <pc:sldMk cId="0" sldId="262"/>
            <ac:spMk id="11" creationId="{00000000-0000-0000-0000-000000000000}"/>
          </ac:spMkLst>
        </pc:spChg>
        <pc:spChg chg="mod">
          <ac:chgData name="Caleb Teo" userId="14a9419bcaefa08b" providerId="LiveId" clId="{BB2F0D6D-D372-42B1-8735-753E9DF877CB}" dt="2026-06-02T06:44:53.772" v="223" actId="1076"/>
          <ac:spMkLst>
            <pc:docMk/>
            <pc:sldMk cId="0" sldId="262"/>
            <ac:spMk id="12" creationId="{00000000-0000-0000-0000-000000000000}"/>
          </ac:spMkLst>
        </pc:spChg>
        <pc:spChg chg="mod">
          <ac:chgData name="Caleb Teo" userId="14a9419bcaefa08b" providerId="LiveId" clId="{BB2F0D6D-D372-42B1-8735-753E9DF877CB}" dt="2026-06-02T06:44:07.721" v="214" actId="255"/>
          <ac:spMkLst>
            <pc:docMk/>
            <pc:sldMk cId="0" sldId="262"/>
            <ac:spMk id="13" creationId="{00000000-0000-0000-0000-000000000000}"/>
          </ac:spMkLst>
        </pc:spChg>
        <pc:spChg chg="mod">
          <ac:chgData name="Caleb Teo" userId="14a9419bcaefa08b" providerId="LiveId" clId="{BB2F0D6D-D372-42B1-8735-753E9DF877CB}" dt="2026-06-02T06:44:30.118" v="219" actId="255"/>
          <ac:spMkLst>
            <pc:docMk/>
            <pc:sldMk cId="0" sldId="262"/>
            <ac:spMk id="14" creationId="{00000000-0000-0000-0000-000000000000}"/>
          </ac:spMkLst>
        </pc:spChg>
        <pc:spChg chg="mod">
          <ac:chgData name="Caleb Teo" userId="14a9419bcaefa08b" providerId="LiveId" clId="{BB2F0D6D-D372-42B1-8735-753E9DF877CB}" dt="2026-06-02T06:44:22.941" v="217" actId="255"/>
          <ac:spMkLst>
            <pc:docMk/>
            <pc:sldMk cId="0" sldId="262"/>
            <ac:spMk id="15" creationId="{00000000-0000-0000-0000-000000000000}"/>
          </ac:spMkLst>
        </pc:spChg>
        <pc:spChg chg="mod">
          <ac:chgData name="Caleb Teo" userId="14a9419bcaefa08b" providerId="LiveId" clId="{BB2F0D6D-D372-42B1-8735-753E9DF877CB}" dt="2026-06-02T06:43:38.065" v="206" actId="403"/>
          <ac:spMkLst>
            <pc:docMk/>
            <pc:sldMk cId="0" sldId="262"/>
            <ac:spMk id="19" creationId="{00000000-0000-0000-0000-000000000000}"/>
          </ac:spMkLst>
        </pc:spChg>
        <pc:spChg chg="mod">
          <ac:chgData name="Caleb Teo" userId="14a9419bcaefa08b" providerId="LiveId" clId="{BB2F0D6D-D372-42B1-8735-753E9DF877CB}" dt="2026-06-02T06:43:51.611" v="209" actId="14100"/>
          <ac:spMkLst>
            <pc:docMk/>
            <pc:sldMk cId="0" sldId="262"/>
            <ac:spMk id="20" creationId="{00000000-0000-0000-0000-000000000000}"/>
          </ac:spMkLst>
        </pc:spChg>
        <pc:spChg chg="mod">
          <ac:chgData name="Caleb Teo" userId="14a9419bcaefa08b" providerId="LiveId" clId="{BB2F0D6D-D372-42B1-8735-753E9DF877CB}" dt="2026-06-02T06:46:54.905" v="247" actId="1076"/>
          <ac:spMkLst>
            <pc:docMk/>
            <pc:sldMk cId="0" sldId="262"/>
            <ac:spMk id="21" creationId="{00000000-0000-0000-0000-000000000000}"/>
          </ac:spMkLst>
        </pc:spChg>
        <pc:picChg chg="mod">
          <ac:chgData name="Caleb Teo" userId="14a9419bcaefa08b" providerId="LiveId" clId="{BB2F0D6D-D372-42B1-8735-753E9DF877CB}" dt="2026-06-02T06:44:11.477" v="216" actId="1076"/>
          <ac:picMkLst>
            <pc:docMk/>
            <pc:sldMk cId="0" sldId="262"/>
            <ac:picMk id="2" creationId="{00000000-0000-0000-0000-000000000000}"/>
          </ac:picMkLst>
        </pc:picChg>
      </pc:sldChg>
      <pc:sldChg chg="modSp mod">
        <pc:chgData name="Caleb Teo" userId="14a9419bcaefa08b" providerId="LiveId" clId="{BB2F0D6D-D372-42B1-8735-753E9DF877CB}" dt="2026-06-02T06:47:23.327" v="253" actId="1076"/>
        <pc:sldMkLst>
          <pc:docMk/>
          <pc:sldMk cId="0" sldId="263"/>
        </pc:sldMkLst>
        <pc:spChg chg="mod">
          <ac:chgData name="Caleb Teo" userId="14a9419bcaefa08b" providerId="LiveId" clId="{BB2F0D6D-D372-42B1-8735-753E9DF877CB}" dt="2026-06-02T06:47:07.863" v="248" actId="1076"/>
          <ac:spMkLst>
            <pc:docMk/>
            <pc:sldMk cId="0" sldId="263"/>
            <ac:spMk id="9" creationId="{00000000-0000-0000-0000-000000000000}"/>
          </ac:spMkLst>
        </pc:spChg>
        <pc:spChg chg="mod">
          <ac:chgData name="Caleb Teo" userId="14a9419bcaefa08b" providerId="LiveId" clId="{BB2F0D6D-D372-42B1-8735-753E9DF877CB}" dt="2026-06-02T06:47:11.146" v="249" actId="1076"/>
          <ac:spMkLst>
            <pc:docMk/>
            <pc:sldMk cId="0" sldId="263"/>
            <ac:spMk id="10" creationId="{00000000-0000-0000-0000-000000000000}"/>
          </ac:spMkLst>
        </pc:spChg>
        <pc:spChg chg="mod">
          <ac:chgData name="Caleb Teo" userId="14a9419bcaefa08b" providerId="LiveId" clId="{BB2F0D6D-D372-42B1-8735-753E9DF877CB}" dt="2026-06-02T06:47:19.414" v="252" actId="1076"/>
          <ac:spMkLst>
            <pc:docMk/>
            <pc:sldMk cId="0" sldId="263"/>
            <ac:spMk id="11" creationId="{00000000-0000-0000-0000-000000000000}"/>
          </ac:spMkLst>
        </pc:spChg>
        <pc:spChg chg="mod">
          <ac:chgData name="Caleb Teo" userId="14a9419bcaefa08b" providerId="LiveId" clId="{BB2F0D6D-D372-42B1-8735-753E9DF877CB}" dt="2026-06-02T06:47:23.327" v="253" actId="1076"/>
          <ac:spMkLst>
            <pc:docMk/>
            <pc:sldMk cId="0" sldId="263"/>
            <ac:spMk id="12" creationId="{00000000-0000-0000-0000-000000000000}"/>
          </ac:spMkLst>
        </pc:spChg>
        <pc:spChg chg="mod">
          <ac:chgData name="Caleb Teo" userId="14a9419bcaefa08b" providerId="LiveId" clId="{BB2F0D6D-D372-42B1-8735-753E9DF877CB}" dt="2026-06-02T06:46:22.733" v="241" actId="1076"/>
          <ac:spMkLst>
            <pc:docMk/>
            <pc:sldMk cId="0" sldId="263"/>
            <ac:spMk id="13" creationId="{00000000-0000-0000-0000-000000000000}"/>
          </ac:spMkLst>
        </pc:spChg>
        <pc:spChg chg="mod">
          <ac:chgData name="Caleb Teo" userId="14a9419bcaefa08b" providerId="LiveId" clId="{BB2F0D6D-D372-42B1-8735-753E9DF877CB}" dt="2026-06-02T06:46:31.247" v="244" actId="1076"/>
          <ac:spMkLst>
            <pc:docMk/>
            <pc:sldMk cId="0" sldId="263"/>
            <ac:spMk id="14" creationId="{00000000-0000-0000-0000-000000000000}"/>
          </ac:spMkLst>
        </pc:spChg>
        <pc:spChg chg="mod">
          <ac:chgData name="Caleb Teo" userId="14a9419bcaefa08b" providerId="LiveId" clId="{BB2F0D6D-D372-42B1-8735-753E9DF877CB}" dt="2026-06-02T06:45:52.073" v="236" actId="255"/>
          <ac:spMkLst>
            <pc:docMk/>
            <pc:sldMk cId="0" sldId="263"/>
            <ac:spMk id="15" creationId="{00000000-0000-0000-0000-000000000000}"/>
          </ac:spMkLst>
        </pc:spChg>
        <pc:picChg chg="mod">
          <ac:chgData name="Caleb Teo" userId="14a9419bcaefa08b" providerId="LiveId" clId="{BB2F0D6D-D372-42B1-8735-753E9DF877CB}" dt="2026-06-02T06:47:15.716" v="251" actId="1076"/>
          <ac:picMkLst>
            <pc:docMk/>
            <pc:sldMk cId="0" sldId="263"/>
            <ac:picMk id="2" creationId="{00000000-0000-0000-0000-000000000000}"/>
          </ac:picMkLst>
        </pc:picChg>
      </pc:sldChg>
      <pc:sldChg chg="modSp mod">
        <pc:chgData name="Caleb Teo" userId="14a9419bcaefa08b" providerId="LiveId" clId="{BB2F0D6D-D372-42B1-8735-753E9DF877CB}" dt="2026-06-02T06:45:40.402" v="233" actId="255"/>
        <pc:sldMkLst>
          <pc:docMk/>
          <pc:sldMk cId="0" sldId="264"/>
        </pc:sldMkLst>
        <pc:spChg chg="mod">
          <ac:chgData name="Caleb Teo" userId="14a9419bcaefa08b" providerId="LiveId" clId="{BB2F0D6D-D372-42B1-8735-753E9DF877CB}" dt="2026-06-02T06:45:40.402" v="233" actId="255"/>
          <ac:spMkLst>
            <pc:docMk/>
            <pc:sldMk cId="0" sldId="264"/>
            <ac:spMk id="9" creationId="{00000000-0000-0000-0000-000000000000}"/>
          </ac:spMkLst>
        </pc:spChg>
        <pc:spChg chg="mod">
          <ac:chgData name="Caleb Teo" userId="14a9419bcaefa08b" providerId="LiveId" clId="{BB2F0D6D-D372-42B1-8735-753E9DF877CB}" dt="2026-06-02T06:45:28.467" v="230" actId="403"/>
          <ac:spMkLst>
            <pc:docMk/>
            <pc:sldMk cId="0" sldId="264"/>
            <ac:spMk id="10" creationId="{00000000-0000-0000-0000-000000000000}"/>
          </ac:spMkLst>
        </pc:spChg>
        <pc:spChg chg="mod">
          <ac:chgData name="Caleb Teo" userId="14a9419bcaefa08b" providerId="LiveId" clId="{BB2F0D6D-D372-42B1-8735-753E9DF877CB}" dt="2026-06-02T06:45:33.322" v="231" actId="255"/>
          <ac:spMkLst>
            <pc:docMk/>
            <pc:sldMk cId="0" sldId="264"/>
            <ac:spMk id="11" creationId="{00000000-0000-0000-0000-000000000000}"/>
          </ac:spMkLst>
        </pc:spChg>
        <pc:spChg chg="mod">
          <ac:chgData name="Caleb Teo" userId="14a9419bcaefa08b" providerId="LiveId" clId="{BB2F0D6D-D372-42B1-8735-753E9DF877CB}" dt="2026-06-02T06:45:36.965" v="232" actId="255"/>
          <ac:spMkLst>
            <pc:docMk/>
            <pc:sldMk cId="0" sldId="264"/>
            <ac:spMk id="12" creationId="{00000000-0000-0000-0000-000000000000}"/>
          </ac:spMkLst>
        </pc:spChg>
        <pc:picChg chg="mod">
          <ac:chgData name="Caleb Teo" userId="14a9419bcaefa08b" providerId="LiveId" clId="{BB2F0D6D-D372-42B1-8735-753E9DF877CB}" dt="2026-06-02T06:45:24.816" v="225" actId="1076"/>
          <ac:picMkLst>
            <pc:docMk/>
            <pc:sldMk cId="0" sldId="264"/>
            <ac:picMk id="2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850" cy="106965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3307" y="4466680"/>
            <a:ext cx="3596233" cy="10271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7290"/>
              </a:lnSpc>
            </a:pPr>
            <a:r>
              <a:rPr sz="9600" b="1" i="0" dirty="0" err="1">
                <a:solidFill>
                  <a:srgbClr val="F3FFFB"/>
                </a:solidFill>
                <a:latin typeface="Fraunces"/>
              </a:rPr>
              <a:t>Eye</a:t>
            </a:r>
            <a:r>
              <a:rPr sz="9600" b="1" i="0" dirty="0" err="1">
                <a:solidFill>
                  <a:srgbClr val="2FE0C4"/>
                </a:solidFill>
                <a:latin typeface="Fraunces"/>
              </a:rPr>
              <a:t>Bot</a:t>
            </a:r>
            <a:endParaRPr sz="9600" b="1" i="0" dirty="0">
              <a:solidFill>
                <a:srgbClr val="2FE0C4"/>
              </a:solidFill>
              <a:latin typeface="Fraunce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8335" y="5493821"/>
            <a:ext cx="6726176" cy="8463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50"/>
              </a:lnSpc>
            </a:pPr>
            <a:r>
              <a:rPr sz="2000" b="0" i="1" dirty="0">
                <a:solidFill>
                  <a:srgbClr val="BFE2DC"/>
                </a:solidFill>
                <a:latin typeface="Fraunces"/>
              </a:rPr>
              <a:t>An AI training companion for the whole of ophthalmic education — grounding every learner, from first-year student to </a:t>
            </a:r>
            <a:r>
              <a:rPr sz="2000" b="0" i="1" dirty="0" err="1">
                <a:solidFill>
                  <a:srgbClr val="BFE2DC"/>
                </a:solidFill>
                <a:latin typeface="Fraunces"/>
              </a:rPr>
              <a:t>practising</a:t>
            </a:r>
            <a:r>
              <a:rPr sz="2000" b="0" i="1" dirty="0">
                <a:solidFill>
                  <a:srgbClr val="BFE2DC"/>
                </a:solidFill>
                <a:latin typeface="Fraunces"/>
              </a:rPr>
              <a:t> clinician, in faithful, adaptive, measurable practice.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8650" y="9715500"/>
            <a:ext cx="1829991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18"/>
              </a:lnSpc>
            </a:pPr>
            <a:r>
              <a:rPr sz="937" b="1" i="0">
                <a:solidFill>
                  <a:srgbClr val="DCEFEA"/>
                </a:solidFill>
                <a:latin typeface="Archivo"/>
              </a:rPr>
              <a:t>Dr JB · Director, SNEC Training &amp;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39542" y="9715500"/>
            <a:ext cx="1574602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18"/>
              </a:lnSpc>
            </a:pPr>
            <a:r>
              <a:rPr sz="937" b="1" i="0">
                <a:solidFill>
                  <a:srgbClr val="DCEFEA"/>
                </a:solidFill>
                <a:latin typeface="Archivo"/>
              </a:rPr>
              <a:t>Caleb Teo · SNEC Training &amp; Education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81612" y="9715500"/>
            <a:ext cx="1652588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1218"/>
              </a:lnSpc>
            </a:pPr>
            <a:r>
              <a:rPr sz="937" b="1" i="0">
                <a:solidFill>
                  <a:srgbClr val="DCEFEA"/>
                </a:solidFill>
                <a:latin typeface="Archivo"/>
              </a:rPr>
              <a:t>June 2026 · Confidential Draft v3.0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" y="9525000"/>
            <a:ext cx="2347912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926"/>
              </a:lnSpc>
            </a:pPr>
            <a:r>
              <a:rPr sz="712" b="0" i="0">
                <a:solidFill>
                  <a:srgbClr val="7F9AA0"/>
                </a:solidFill>
                <a:latin typeface="JetBrains Mono"/>
              </a:rPr>
              <a:t>Prepared for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6562" y="9525000"/>
            <a:ext cx="210056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26"/>
              </a:lnSpc>
            </a:pPr>
            <a:r>
              <a:rPr sz="712" b="0" i="0">
                <a:solidFill>
                  <a:srgbClr val="7F9AA0"/>
                </a:solidFill>
                <a:latin typeface="JetBrains Mono"/>
              </a:rPr>
              <a:t>Prepared by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7123" y="9525000"/>
            <a:ext cx="1857077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926"/>
              </a:lnSpc>
            </a:pPr>
            <a:r>
              <a:rPr sz="712" b="0" i="0">
                <a:solidFill>
                  <a:srgbClr val="7F9AA0"/>
                </a:solidFill>
                <a:latin typeface="JetBrains Mono"/>
              </a:rPr>
              <a:t>Document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850" cy="106965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8650" y="2522720"/>
            <a:ext cx="6153150" cy="1231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dirty="0">
                <a:solidFill>
                  <a:srgbClr val="0A1F28"/>
                </a:solidFill>
                <a:latin typeface="Fraunces"/>
              </a:rPr>
              <a:t>Imagine every ophthalmic trainee — whatever their role — with a tutor who never sleeps, a patient who is always available, and a curriculum that adapts to exactly what they keep forgetting.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8650" y="5639842"/>
            <a:ext cx="6153150" cy="27699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>
                <a:solidFill>
                  <a:srgbClr val="16313B"/>
                </a:solidFill>
                <a:latin typeface="Archivo"/>
              </a:rPr>
              <a:t>SNEC </a:t>
            </a:r>
            <a:r>
              <a:rPr sz="2000" b="1" i="0" dirty="0" err="1">
                <a:solidFill>
                  <a:srgbClr val="16313B"/>
                </a:solidFill>
                <a:latin typeface="Archivo"/>
              </a:rPr>
              <a:t>EyeBot</a:t>
            </a:r>
            <a:r>
              <a:rPr sz="2000" b="0" i="0" dirty="0">
                <a:solidFill>
                  <a:srgbClr val="16313B"/>
                </a:solidFill>
                <a:latin typeface="Archivo"/>
              </a:rPr>
              <a:t> is an AI learning companion that transforms a clinical curriculum into three evidence-based experiences — a Socratic tutor, inexhaustible virtual-patient simulations, and a self-</a:t>
            </a:r>
            <a:r>
              <a:rPr sz="2000" b="0" i="0" dirty="0" err="1">
                <a:solidFill>
                  <a:srgbClr val="16313B"/>
                </a:solidFill>
                <a:latin typeface="Archivo"/>
              </a:rPr>
              <a:t>optimising</a:t>
            </a:r>
            <a:r>
              <a:rPr sz="2000" b="0" i="0" dirty="0">
                <a:solidFill>
                  <a:srgbClr val="16313B"/>
                </a:solidFill>
                <a:latin typeface="Archivo"/>
              </a:rPr>
              <a:t> memory engine — woven into one adaptive loop. Grounded today in SNEC’s clinical curriculum and architected to serve the </a:t>
            </a:r>
            <a:r>
              <a:rPr sz="2000" b="0" i="0" dirty="0">
                <a:solidFill>
                  <a:srgbClr val="0C7D72"/>
                </a:solidFill>
                <a:latin typeface="Archivo"/>
              </a:rPr>
              <a:t>full spectrum of eye-care learners</a:t>
            </a:r>
            <a:r>
              <a:rPr sz="2000" b="0" i="0" dirty="0">
                <a:solidFill>
                  <a:srgbClr val="16313B"/>
                </a:solidFill>
                <a:latin typeface="Archivo"/>
              </a:rPr>
              <a:t>, it also gives educators a live, cohort-wide view of mastery for the first time. The platform is built, demonstrable, and ready to pilot.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8650" y="9023598"/>
            <a:ext cx="6305550" cy="9871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sz="2025" b="0" i="0" dirty="0">
                <a:solidFill>
                  <a:srgbClr val="07151C"/>
                </a:solidFill>
                <a:latin typeface="Fraunces"/>
              </a:rPr>
              <a:t>A fixed curriculum becomes a </a:t>
            </a:r>
            <a:r>
              <a:rPr sz="2025" b="0" i="0" dirty="0">
                <a:solidFill>
                  <a:srgbClr val="0C7D72"/>
                </a:solidFill>
                <a:latin typeface="Fraunces"/>
              </a:rPr>
              <a:t>living, </a:t>
            </a:r>
            <a:r>
              <a:rPr sz="2025" b="0" i="0" dirty="0" err="1">
                <a:solidFill>
                  <a:srgbClr val="0C7D72"/>
                </a:solidFill>
                <a:latin typeface="Fraunces"/>
              </a:rPr>
              <a:t>personalised</a:t>
            </a:r>
            <a:r>
              <a:rPr sz="2025" b="0" i="0" dirty="0">
                <a:solidFill>
                  <a:srgbClr val="0C7D72"/>
                </a:solidFill>
                <a:latin typeface="Fraunces"/>
              </a:rPr>
              <a:t>, measurable</a:t>
            </a:r>
            <a:r>
              <a:rPr sz="2025" b="0" i="0" dirty="0">
                <a:solidFill>
                  <a:srgbClr val="07151C"/>
                </a:solidFill>
                <a:latin typeface="Fraunces"/>
              </a:rPr>
              <a:t> learning experience — and positions SNEC at the front of AI-enabled clinical education.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8675" y="4234160"/>
            <a:ext cx="16002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2475" b="1" i="0">
                <a:solidFill>
                  <a:srgbClr val="07151C"/>
                </a:solidFill>
                <a:latin typeface="Fraunces"/>
              </a:rPr>
              <a:t>3-in-1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81325" y="4234160"/>
            <a:ext cx="16002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2475" b="1" i="0">
                <a:solidFill>
                  <a:srgbClr val="07151C"/>
                </a:solidFill>
                <a:latin typeface="Fraunces"/>
              </a:rPr>
              <a:t>Grounded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33975" y="4234160"/>
            <a:ext cx="16002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2475" b="1" i="0">
                <a:solidFill>
                  <a:srgbClr val="07151C"/>
                </a:solidFill>
                <a:latin typeface="Fraunces"/>
              </a:rPr>
              <a:t>Cohort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8675" y="4653260"/>
            <a:ext cx="1600200" cy="508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36"/>
              </a:lnSpc>
            </a:pPr>
            <a:r>
              <a:rPr sz="862" b="0" i="0">
                <a:solidFill>
                  <a:srgbClr val="5D7480"/>
                </a:solidFill>
                <a:latin typeface="Archivo"/>
              </a:rPr>
              <a:t>Tutor, clinical simulator and memory engine working as a single adaptive loop.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81325" y="4653260"/>
            <a:ext cx="1600200" cy="508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36"/>
              </a:lnSpc>
            </a:pPr>
            <a:r>
              <a:rPr sz="862" b="0" i="0">
                <a:solidFill>
                  <a:srgbClr val="5D7480"/>
                </a:solidFill>
                <a:latin typeface="Archivo"/>
              </a:rPr>
              <a:t>Every answer drawn from validated clinical material — faithful, not the open internet.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33975" y="4653260"/>
            <a:ext cx="1600200" cy="508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36"/>
              </a:lnSpc>
            </a:pPr>
            <a:r>
              <a:rPr sz="862" b="0" i="0">
                <a:solidFill>
                  <a:srgbClr val="5D7480"/>
                </a:solidFill>
                <a:latin typeface="Archivo"/>
              </a:rPr>
              <a:t>Live at-risk detection, retention scoring and weekly digests for educators.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7562850" cy="106965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8650" y="1495425"/>
            <a:ext cx="6305550" cy="8599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386"/>
              </a:lnSpc>
            </a:pPr>
            <a:r>
              <a:rPr sz="3225" b="1" i="0">
                <a:solidFill>
                  <a:srgbClr val="EAFFFB"/>
                </a:solidFill>
                <a:latin typeface="Fraunces"/>
              </a:rPr>
              <a:t>Training the eyes</a:t>
            </a:r>
          </a:p>
          <a:p>
            <a:pPr algn="l">
              <a:lnSpc>
                <a:spcPts val="3386"/>
              </a:lnSpc>
            </a:pPr>
            <a:r>
              <a:rPr sz="3225" b="1" i="0">
                <a:solidFill>
                  <a:srgbClr val="EAFFFB"/>
                </a:solidFill>
                <a:latin typeface="Fraunces"/>
              </a:rPr>
              <a:t>behind the eye care.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8650" y="2380430"/>
            <a:ext cx="6642162" cy="8720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sz="1600" b="0" i="0" dirty="0">
                <a:solidFill>
                  <a:srgbClr val="B9D0CF"/>
                </a:solidFill>
                <a:latin typeface="Archivo"/>
              </a:rPr>
              <a:t>Across the eye-care continuum — medical students on rotation, optometry students, ophthalmology residents, nurses and allied-health technicians — training is rigorous, yet it meets four structural limits that no amount of dedication can fully solve.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8650" y="9352657"/>
            <a:ext cx="5334000" cy="6581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sz="2025" b="0" i="0">
                <a:solidFill>
                  <a:srgbClr val="EAFFFB"/>
                </a:solidFill>
                <a:latin typeface="Fraunces"/>
              </a:rPr>
              <a:t>EyeBot is engineered to dissolve all four — </a:t>
            </a:r>
            <a:r>
              <a:rPr sz="2025" b="0" i="0">
                <a:solidFill>
                  <a:srgbClr val="2FE0C4"/>
                </a:solidFill>
                <a:latin typeface="Fraunces"/>
              </a:rPr>
              <a:t>at once.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90624" y="3453557"/>
            <a:ext cx="5119688" cy="1699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38"/>
              </a:lnSpc>
            </a:pPr>
            <a:r>
              <a:rPr sz="1275" b="1" i="0">
                <a:solidFill>
                  <a:srgbClr val="EAFFFB"/>
                </a:solidFill>
                <a:latin typeface="Fraunces"/>
              </a:rPr>
              <a:t>Expert time is scarce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90625" y="4331732"/>
            <a:ext cx="4084737" cy="1699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38"/>
              </a:lnSpc>
            </a:pPr>
            <a:r>
              <a:rPr sz="1275" b="1" i="0" dirty="0">
                <a:solidFill>
                  <a:srgbClr val="EAFFFB"/>
                </a:solidFill>
                <a:latin typeface="Fraunces"/>
              </a:rPr>
              <a:t>Case exposure is uneven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294" y="5204163"/>
            <a:ext cx="4982617" cy="1699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38"/>
              </a:lnSpc>
            </a:pPr>
            <a:r>
              <a:rPr sz="1275" b="1" i="0" dirty="0">
                <a:solidFill>
                  <a:srgbClr val="EAFFFB"/>
                </a:solidFill>
                <a:latin typeface="Fraunces"/>
              </a:rPr>
              <a:t>Knowledge decays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294" y="6070848"/>
            <a:ext cx="4999286" cy="1699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38"/>
              </a:lnSpc>
            </a:pPr>
            <a:r>
              <a:rPr sz="1275" b="1" i="0" dirty="0">
                <a:solidFill>
                  <a:srgbClr val="EAFFFB"/>
                </a:solidFill>
                <a:latin typeface="Fraunces"/>
              </a:rPr>
              <a:t>Cohort gaps are invisible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0625" y="3650038"/>
            <a:ext cx="5772149" cy="3590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06"/>
              </a:lnSpc>
            </a:pPr>
            <a:r>
              <a:rPr sz="1400" b="0" i="0" dirty="0">
                <a:solidFill>
                  <a:srgbClr val="9FB6B6"/>
                </a:solidFill>
                <a:latin typeface="Archivo"/>
              </a:rPr>
              <a:t>One educator cannot give every trainee unlimited one-to-one tutoring or on-demand case practice.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0625" y="4539794"/>
            <a:ext cx="5627425" cy="3615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06"/>
              </a:lnSpc>
            </a:pPr>
            <a:r>
              <a:rPr sz="1400" b="0" i="0" dirty="0">
                <a:solidFill>
                  <a:srgbClr val="9FB6B6"/>
                </a:solidFill>
                <a:latin typeface="Archivo"/>
              </a:rPr>
              <a:t>Which conditions a trainee actually meets is left to the luck of the clinical roster.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0625" y="5435040"/>
            <a:ext cx="5743575" cy="3615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06"/>
              </a:lnSpc>
            </a:pPr>
            <a:r>
              <a:rPr sz="1400" b="0" i="0" dirty="0">
                <a:solidFill>
                  <a:srgbClr val="9FB6B6"/>
                </a:solidFill>
                <a:latin typeface="Archivo"/>
              </a:rPr>
              <a:t>Without deliberate reinforcement, much of what is taught is forgotten within weeks of the lesson.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90625" y="6276504"/>
            <a:ext cx="5840490" cy="3615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06"/>
              </a:lnSpc>
            </a:pPr>
            <a:r>
              <a:rPr sz="1400" b="0" i="0" dirty="0">
                <a:solidFill>
                  <a:srgbClr val="9FB6B6"/>
                </a:solidFill>
                <a:latin typeface="Archivo"/>
              </a:rPr>
              <a:t>Educators often discover weaknesses at assessment time — when it is already late to intervene.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850" cy="106965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8650" y="1495425"/>
            <a:ext cx="6305550" cy="8599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386"/>
              </a:lnSpc>
            </a:pPr>
            <a:r>
              <a:rPr sz="3225" b="1" i="0" dirty="0">
                <a:solidFill>
                  <a:srgbClr val="07151C"/>
                </a:solidFill>
                <a:latin typeface="Fraunces"/>
              </a:rPr>
              <a:t>One companion. Three modes.</a:t>
            </a:r>
          </a:p>
          <a:p>
            <a:pPr algn="l">
              <a:lnSpc>
                <a:spcPts val="3386"/>
              </a:lnSpc>
            </a:pPr>
            <a:r>
              <a:rPr sz="3225" b="1" i="0" dirty="0">
                <a:solidFill>
                  <a:srgbClr val="07151C"/>
                </a:solidFill>
                <a:latin typeface="Fraunces"/>
              </a:rPr>
              <a:t>A single adaptive loop.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8650" y="9797355"/>
            <a:ext cx="6305550" cy="2134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0"/>
              </a:lnSpc>
            </a:pPr>
            <a:r>
              <a:rPr sz="1012" b="0" i="0">
                <a:solidFill>
                  <a:srgbClr val="5D7480"/>
                </a:solidFill>
                <a:latin typeface="Archivo"/>
              </a:rPr>
              <a:t>…and quietly, an analytics layer watches the whole cohort — turning individual practice into institutional insight.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100" y="6574929"/>
            <a:ext cx="1670000" cy="1667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SG" sz="1200" b="1" dirty="0">
                <a:solidFill>
                  <a:srgbClr val="07151C"/>
                </a:solidFill>
                <a:latin typeface="Fraunces"/>
              </a:rPr>
              <a:t>AI Socratic Tutor</a:t>
            </a:r>
            <a:endParaRPr sz="1200" b="1" i="0" dirty="0">
              <a:solidFill>
                <a:srgbClr val="07151C"/>
              </a:solidFill>
              <a:latin typeface="Fraunce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46350" y="6574929"/>
            <a:ext cx="1670000" cy="1599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1200" b="1" i="0" dirty="0">
                <a:solidFill>
                  <a:srgbClr val="07151C"/>
                </a:solidFill>
                <a:latin typeface="Fraunces"/>
              </a:rPr>
              <a:t>Case Simulations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92601" y="6574929"/>
            <a:ext cx="1670000" cy="1599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1200" b="1" i="0">
                <a:solidFill>
                  <a:srgbClr val="07151C"/>
                </a:solidFill>
                <a:latin typeface="Fraunces"/>
              </a:rPr>
              <a:t>Spaced Flashcards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6801594"/>
            <a:ext cx="1670000" cy="9924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3"/>
              </a:lnSpc>
            </a:pPr>
            <a:r>
              <a:rPr sz="1100" b="0" i="0" dirty="0">
                <a:solidFill>
                  <a:srgbClr val="5D7480"/>
                </a:solidFill>
                <a:latin typeface="Archivo"/>
              </a:rPr>
              <a:t>Plain-language questions met with Explanation → Mechanism → Clinical Pearl → a check for understanding, always grounded in the clinical knowledge base.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46350" y="6801594"/>
            <a:ext cx="1670000" cy="9941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3"/>
              </a:lnSpc>
            </a:pPr>
            <a:r>
              <a:rPr sz="1100" b="0" i="0" dirty="0">
                <a:solidFill>
                  <a:srgbClr val="5D7480"/>
                </a:solidFill>
                <a:latin typeface="Archivo"/>
              </a:rPr>
              <a:t>Interview a virtual patient, order investigations, commit to a diagnosis and plan — graded on a four-domain rubric out of 40 with instant feedback.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92601" y="6801594"/>
            <a:ext cx="1670000" cy="10002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3"/>
              </a:lnSpc>
            </a:pPr>
            <a:r>
              <a:rPr sz="1200" b="0" i="0" dirty="0">
                <a:solidFill>
                  <a:srgbClr val="5D7480"/>
                </a:solidFill>
                <a:latin typeface="Archivo"/>
              </a:rPr>
              <a:t>High-yield cards auto-generated from each session and every missed clinical point, scheduled by the SM-2 algorithm for durable recall.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B2056AB-DC57-EEAF-64F8-55ED8AC55E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8223" y="3368670"/>
            <a:ext cx="1746403" cy="1746403"/>
          </a:xfrm>
          <a:prstGeom prst="ellipse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850" cy="106965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8650" y="1495425"/>
            <a:ext cx="6305550" cy="8599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386"/>
              </a:lnSpc>
            </a:pPr>
            <a:r>
              <a:rPr sz="3225" b="1" i="0" dirty="0">
                <a:solidFill>
                  <a:srgbClr val="EAFFFB"/>
                </a:solidFill>
                <a:latin typeface="Fraunces"/>
              </a:rPr>
              <a:t>An innovation —</a:t>
            </a:r>
          </a:p>
          <a:p>
            <a:pPr algn="l">
              <a:lnSpc>
                <a:spcPts val="3386"/>
              </a:lnSpc>
            </a:pPr>
            <a:r>
              <a:rPr sz="3225" b="1" i="0" dirty="0">
                <a:solidFill>
                  <a:srgbClr val="EAFFFB"/>
                </a:solidFill>
                <a:latin typeface="Fraunces"/>
              </a:rPr>
              <a:t>not an integration.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8650" y="2488704"/>
            <a:ext cx="4876800" cy="428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sz="1400" b="0" i="0" dirty="0" err="1">
                <a:solidFill>
                  <a:srgbClr val="B9D0CF"/>
                </a:solidFill>
                <a:latin typeface="Archivo"/>
              </a:rPr>
              <a:t>EyeBot</a:t>
            </a:r>
            <a:r>
              <a:rPr sz="1400" b="0" i="0" dirty="0">
                <a:solidFill>
                  <a:srgbClr val="B9D0CF"/>
                </a:solidFill>
                <a:latin typeface="Archivo"/>
              </a:rPr>
              <a:t> is not a chatbot bolted onto a syllabus. Five deliberate advances make it genuinely new for clinical education.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8650" y="9352657"/>
            <a:ext cx="4724400" cy="6581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sz="2025" b="0" i="0">
                <a:solidFill>
                  <a:srgbClr val="EAFFFB"/>
                </a:solidFill>
                <a:latin typeface="Fraunces"/>
              </a:rPr>
              <a:t>Together: the first AI companion built for </a:t>
            </a:r>
            <a:r>
              <a:rPr sz="2025" b="0" i="0">
                <a:solidFill>
                  <a:srgbClr val="2FE0C4"/>
                </a:solidFill>
                <a:latin typeface="Fraunces"/>
              </a:rPr>
              <a:t>how eye care is actually taught.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43100" y="3258443"/>
            <a:ext cx="3638550" cy="1750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78"/>
              </a:lnSpc>
            </a:pPr>
            <a:r>
              <a:rPr sz="1312" b="1" i="0">
                <a:solidFill>
                  <a:srgbClr val="EAFFFB"/>
                </a:solidFill>
                <a:latin typeface="Fraunces"/>
              </a:rPr>
              <a:t>Curriculum-grounded clinical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43100" y="4396829"/>
            <a:ext cx="3638550" cy="1750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78"/>
              </a:lnSpc>
            </a:pPr>
            <a:r>
              <a:rPr sz="1312" b="1" i="0">
                <a:solidFill>
                  <a:srgbClr val="EAFFFB"/>
                </a:solidFill>
                <a:latin typeface="Fraunces"/>
              </a:rPr>
              <a:t>Inexhaustible virtual patients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43100" y="5353794"/>
            <a:ext cx="3638550" cy="1750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78"/>
              </a:lnSpc>
            </a:pPr>
            <a:r>
              <a:rPr sz="1312" b="1" i="0">
                <a:solidFill>
                  <a:srgbClr val="EAFFFB"/>
                </a:solidFill>
                <a:latin typeface="Fraunces"/>
              </a:rPr>
              <a:t>A self-optimising loop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43100" y="6310759"/>
            <a:ext cx="3638550" cy="1750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78"/>
              </a:lnSpc>
            </a:pPr>
            <a:r>
              <a:rPr sz="1312" b="1" i="0">
                <a:solidFill>
                  <a:srgbClr val="EAFFFB"/>
                </a:solidFill>
                <a:latin typeface="Fraunces"/>
              </a:rPr>
              <a:t>Reliable by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43100" y="7267724"/>
            <a:ext cx="3638550" cy="1750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78"/>
              </a:lnSpc>
            </a:pPr>
            <a:r>
              <a:rPr sz="1312" b="1" i="0">
                <a:solidFill>
                  <a:srgbClr val="EAFFFB"/>
                </a:solidFill>
                <a:latin typeface="Fraunces"/>
              </a:rPr>
              <a:t>Cohort intelligence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43100" y="3481090"/>
            <a:ext cx="4386680" cy="5442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29"/>
              </a:lnSpc>
            </a:pPr>
            <a:r>
              <a:rPr sz="1400" b="0" i="0" dirty="0">
                <a:solidFill>
                  <a:srgbClr val="A4BBBB"/>
                </a:solidFill>
                <a:latin typeface="Archivo"/>
              </a:rPr>
              <a:t>Answers are retrieved from the institution’s own validated material — faithful and auditable, never the untraceable guesswork of a generic model.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43100" y="4619476"/>
            <a:ext cx="4386680" cy="541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29"/>
              </a:lnSpc>
            </a:pPr>
            <a:r>
              <a:rPr sz="1400" b="0" i="0" dirty="0">
                <a:solidFill>
                  <a:srgbClr val="A4BBBB"/>
                </a:solidFill>
                <a:latin typeface="Archivo"/>
              </a:rPr>
              <a:t>The AI plays both patient and examiner: unlimited, </a:t>
            </a:r>
            <a:r>
              <a:rPr sz="1400" b="0" i="0" dirty="0" err="1">
                <a:solidFill>
                  <a:srgbClr val="A4BBBB"/>
                </a:solidFill>
                <a:latin typeface="Archivo"/>
              </a:rPr>
              <a:t>standardised</a:t>
            </a:r>
            <a:r>
              <a:rPr sz="1400" b="0" i="0" dirty="0">
                <a:solidFill>
                  <a:srgbClr val="A4BBBB"/>
                </a:solidFill>
                <a:latin typeface="Archivo"/>
              </a:rPr>
              <a:t> case exposure with rubric-graded feedback — independent of roster luck.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43100" y="5576441"/>
            <a:ext cx="4386680" cy="5386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29"/>
              </a:lnSpc>
            </a:pPr>
            <a:r>
              <a:rPr sz="1400" b="0" i="0" dirty="0">
                <a:solidFill>
                  <a:srgbClr val="A4BBBB"/>
                </a:solidFill>
                <a:latin typeface="Archivo"/>
              </a:rPr>
              <a:t>Each learner’s weak points automatically become their next flashcards and tougher cases — genuine </a:t>
            </a:r>
            <a:r>
              <a:rPr sz="1400" b="0" i="0" dirty="0" err="1">
                <a:solidFill>
                  <a:srgbClr val="A4BBBB"/>
                </a:solidFill>
                <a:latin typeface="Archivo"/>
              </a:rPr>
              <a:t>personalisation</a:t>
            </a:r>
            <a:r>
              <a:rPr sz="1400" b="0" i="0" dirty="0">
                <a:solidFill>
                  <a:srgbClr val="A4BBBB"/>
                </a:solidFill>
                <a:latin typeface="Archivo"/>
              </a:rPr>
              <a:t>, at scale.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43100" y="6533406"/>
            <a:ext cx="4386680" cy="541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29"/>
              </a:lnSpc>
            </a:pPr>
            <a:r>
              <a:rPr sz="1400" b="0" i="0" dirty="0">
                <a:solidFill>
                  <a:srgbClr val="A4BBBB"/>
                </a:solidFill>
                <a:latin typeface="Archivo"/>
              </a:rPr>
              <a:t>A Workflows–Agents–Tools design separates AI judgement from deterministic execution — trustworthy enough for clinical training.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43100" y="7490371"/>
            <a:ext cx="4386680" cy="5442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29"/>
              </a:lnSpc>
            </a:pPr>
            <a:r>
              <a:rPr sz="1400" b="0" i="0" dirty="0">
                <a:solidFill>
                  <a:srgbClr val="A4BBBB"/>
                </a:solidFill>
                <a:latin typeface="Archivo"/>
              </a:rPr>
              <a:t>Learning analytics purpose-built for clinical education: at-risk detection, retention scoring and learning-velocity — live, not at term’s end.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-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850" cy="106965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8650" y="1495425"/>
            <a:ext cx="6305550" cy="8599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386"/>
              </a:lnSpc>
            </a:pPr>
            <a:r>
              <a:rPr sz="3225" b="1" i="0">
                <a:solidFill>
                  <a:srgbClr val="07151C"/>
                </a:solidFill>
                <a:latin typeface="Fraunces"/>
              </a:rPr>
              <a:t>Grounded in learning</a:t>
            </a:r>
          </a:p>
          <a:p>
            <a:pPr algn="l">
              <a:lnSpc>
                <a:spcPts val="3386"/>
              </a:lnSpc>
            </a:pPr>
            <a:r>
              <a:rPr sz="3225" b="1" i="0">
                <a:solidFill>
                  <a:srgbClr val="07151C"/>
                </a:solidFill>
                <a:latin typeface="Fraunces"/>
              </a:rPr>
              <a:t>science, not novelty.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8650" y="2488704"/>
            <a:ext cx="5715000" cy="4360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sz="1600" b="0" i="0" dirty="0">
                <a:solidFill>
                  <a:srgbClr val="16313B"/>
                </a:solidFill>
                <a:latin typeface="Archivo"/>
              </a:rPr>
              <a:t>Every design decision in </a:t>
            </a:r>
            <a:r>
              <a:rPr sz="1600" b="0" i="0" dirty="0" err="1">
                <a:solidFill>
                  <a:srgbClr val="16313B"/>
                </a:solidFill>
                <a:latin typeface="Archivo"/>
              </a:rPr>
              <a:t>EyeBot</a:t>
            </a:r>
            <a:r>
              <a:rPr sz="1600" b="0" i="0" dirty="0">
                <a:solidFill>
                  <a:srgbClr val="16313B"/>
                </a:solidFill>
                <a:latin typeface="Archivo"/>
              </a:rPr>
              <a:t> maps to an established principle of how clinicians actually learn and retain.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900" y="5963543"/>
            <a:ext cx="2543175" cy="1449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41"/>
              </a:lnSpc>
            </a:pPr>
            <a:r>
              <a:rPr sz="1087" b="1" i="0" dirty="0">
                <a:solidFill>
                  <a:srgbClr val="07151C"/>
                </a:solidFill>
                <a:latin typeface="Fraunces"/>
              </a:rPr>
              <a:t>Retrieval &amp; spacing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91025" y="5963543"/>
            <a:ext cx="2543175" cy="1449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41"/>
              </a:lnSpc>
            </a:pPr>
            <a:r>
              <a:rPr sz="1087" b="1" i="0">
                <a:solidFill>
                  <a:srgbClr val="07151C"/>
                </a:solidFill>
                <a:latin typeface="Fraunces"/>
              </a:rPr>
              <a:t>Socratic scaffolding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899" y="6640711"/>
            <a:ext cx="2543175" cy="1449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41"/>
              </a:lnSpc>
            </a:pPr>
            <a:r>
              <a:rPr sz="1087" b="1" i="0" dirty="0">
                <a:solidFill>
                  <a:srgbClr val="07151C"/>
                </a:solidFill>
                <a:latin typeface="Fraunces"/>
              </a:rPr>
              <a:t>Case-based reasoning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91024" y="6642921"/>
            <a:ext cx="2543175" cy="1449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41"/>
              </a:lnSpc>
            </a:pPr>
            <a:r>
              <a:rPr sz="1087" b="1" i="0" dirty="0">
                <a:solidFill>
                  <a:srgbClr val="07151C"/>
                </a:solidFill>
                <a:latin typeface="Fraunces"/>
              </a:rPr>
              <a:t>Formative feedback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" y="6137077"/>
            <a:ext cx="2809877" cy="5001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71"/>
              </a:lnSpc>
            </a:pPr>
            <a:r>
              <a:rPr sz="1100" b="0" i="0" dirty="0">
                <a:solidFill>
                  <a:srgbClr val="5D7480"/>
                </a:solidFill>
                <a:latin typeface="Archivo"/>
              </a:rPr>
              <a:t>SM-2 spaced repetition fights the forgetting curve — each review lengthens durable retention.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91025" y="6137077"/>
            <a:ext cx="3048462" cy="333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71"/>
              </a:lnSpc>
            </a:pPr>
            <a:r>
              <a:rPr sz="1100" b="0" i="0" dirty="0">
                <a:solidFill>
                  <a:srgbClr val="5D7480"/>
                </a:solidFill>
                <a:latin typeface="Archivo"/>
              </a:rPr>
              <a:t>The tutor explains mechanism, then checks understanding — active recall over passive reading.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4900" y="6785670"/>
            <a:ext cx="2543175" cy="5001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71"/>
              </a:lnSpc>
            </a:pPr>
            <a:r>
              <a:rPr sz="1100" b="0" i="0" dirty="0">
                <a:solidFill>
                  <a:srgbClr val="5D7480"/>
                </a:solidFill>
                <a:latin typeface="Archivo"/>
              </a:rPr>
              <a:t>Simulations rehearse the full clinical chain: history, investigation, diagnosis, management.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91025" y="6785670"/>
            <a:ext cx="2543175" cy="333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71"/>
              </a:lnSpc>
            </a:pPr>
            <a:r>
              <a:rPr sz="1100" b="0" i="0" dirty="0">
                <a:solidFill>
                  <a:srgbClr val="5D7480"/>
                </a:solidFill>
                <a:latin typeface="Archivo"/>
              </a:rPr>
              <a:t>Rubric scores and targeted cards turn every mistake into the learner’s next rep.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-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850" cy="106965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8650" y="1495425"/>
            <a:ext cx="6305550" cy="4299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386"/>
              </a:lnSpc>
            </a:pPr>
            <a:r>
              <a:rPr sz="3225" b="1" i="0">
                <a:solidFill>
                  <a:srgbClr val="07151C"/>
                </a:solidFill>
                <a:latin typeface="Fraunces"/>
              </a:rPr>
              <a:t>One engine. Every learner.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8650" y="2058739"/>
            <a:ext cx="5905500" cy="6469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sz="1400" b="0" i="0" dirty="0" err="1">
                <a:solidFill>
                  <a:srgbClr val="16313B"/>
                </a:solidFill>
                <a:latin typeface="Archivo"/>
              </a:rPr>
              <a:t>EyeBot</a:t>
            </a:r>
            <a:r>
              <a:rPr sz="1400" b="0" i="0" dirty="0">
                <a:solidFill>
                  <a:srgbClr val="16313B"/>
                </a:solidFill>
                <a:latin typeface="Archivo"/>
              </a:rPr>
              <a:t> adapts its content, cases and rubric to each role — and the same engine extends across specialties and institutions. What begins with SNEC’s </a:t>
            </a:r>
            <a:r>
              <a:rPr sz="1400" b="0" i="0" dirty="0" err="1">
                <a:solidFill>
                  <a:srgbClr val="16313B"/>
                </a:solidFill>
                <a:latin typeface="Archivo"/>
              </a:rPr>
              <a:t>programme</a:t>
            </a:r>
            <a:r>
              <a:rPr sz="1400" b="0" i="0" dirty="0">
                <a:solidFill>
                  <a:srgbClr val="16313B"/>
                </a:solidFill>
                <a:latin typeface="Archivo"/>
              </a:rPr>
              <a:t> scales to the whole of ophthalmic education.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8650" y="9352657"/>
            <a:ext cx="6286500" cy="6581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sz="2025" b="0" i="0">
                <a:solidFill>
                  <a:srgbClr val="07151C"/>
                </a:solidFill>
                <a:latin typeface="Fraunces"/>
              </a:rPr>
              <a:t>From a single programme to an </a:t>
            </a:r>
            <a:r>
              <a:rPr sz="2025" b="0" i="0">
                <a:solidFill>
                  <a:srgbClr val="0C7D72"/>
                </a:solidFill>
                <a:latin typeface="Fraunces"/>
              </a:rPr>
              <a:t>institution-wide standard</a:t>
            </a:r>
            <a:r>
              <a:rPr sz="2025" b="0" i="0">
                <a:solidFill>
                  <a:srgbClr val="07151C"/>
                </a:solidFill>
                <a:latin typeface="Fraunces"/>
              </a:rPr>
              <a:t> for how eye-care professionals are trained.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8903" y="3822948"/>
            <a:ext cx="969169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125"/>
              </a:lnSpc>
            </a:pPr>
            <a:r>
              <a:rPr sz="1050" b="1" i="0" dirty="0">
                <a:solidFill>
                  <a:srgbClr val="07151C"/>
                </a:solidFill>
                <a:latin typeface="Fraunces"/>
              </a:rPr>
              <a:t>Medical Students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40719" y="3822948"/>
            <a:ext cx="1133624" cy="141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125"/>
              </a:lnSpc>
            </a:pPr>
            <a:r>
              <a:rPr sz="1050" b="1" i="0" dirty="0">
                <a:solidFill>
                  <a:srgbClr val="07151C"/>
                </a:solidFill>
                <a:latin typeface="Fraunces"/>
              </a:rPr>
              <a:t>Optometry Students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14688" y="3822948"/>
            <a:ext cx="1133624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125"/>
              </a:lnSpc>
            </a:pPr>
            <a:r>
              <a:rPr sz="1050" b="1" i="0" dirty="0">
                <a:solidFill>
                  <a:srgbClr val="07151C"/>
                </a:solidFill>
                <a:latin typeface="Fraunces"/>
              </a:rPr>
              <a:t>Ophthalmology Residents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8004" y="3822948"/>
            <a:ext cx="1094482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125"/>
              </a:lnSpc>
            </a:pPr>
            <a:r>
              <a:rPr sz="1050" b="1" i="0" dirty="0">
                <a:solidFill>
                  <a:srgbClr val="07151C"/>
                </a:solidFill>
                <a:latin typeface="Fraunces"/>
              </a:rPr>
              <a:t>Ophthalmic Nurses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2476" y="3822948"/>
            <a:ext cx="1133624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125"/>
              </a:lnSpc>
            </a:pPr>
            <a:r>
              <a:rPr sz="1050" b="1" i="0" dirty="0">
                <a:solidFill>
                  <a:srgbClr val="07151C"/>
                </a:solidFill>
                <a:latin typeface="Fraunces"/>
              </a:rPr>
              <a:t>Allied Health · OA / OT / PSA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4644" y="4003923"/>
            <a:ext cx="1017687" cy="261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029"/>
              </a:lnSpc>
            </a:pPr>
            <a:r>
              <a:rPr sz="1100" b="0" i="0" dirty="0">
                <a:solidFill>
                  <a:srgbClr val="5D7480"/>
                </a:solidFill>
                <a:latin typeface="Archivo"/>
              </a:rPr>
              <a:t>Eye-rotation foundations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127" y="4025485"/>
            <a:ext cx="1045964" cy="261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029"/>
              </a:lnSpc>
            </a:pPr>
            <a:r>
              <a:rPr sz="1100" b="0" i="0" dirty="0">
                <a:solidFill>
                  <a:srgbClr val="5D7480"/>
                </a:solidFill>
                <a:latin typeface="Archivo"/>
              </a:rPr>
              <a:t>Refraction &amp; primary care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77939" y="4146798"/>
            <a:ext cx="1006971" cy="259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029"/>
              </a:lnSpc>
            </a:pPr>
            <a:r>
              <a:rPr sz="1100" b="0" i="0" dirty="0">
                <a:solidFill>
                  <a:srgbClr val="5D7480"/>
                </a:solidFill>
                <a:latin typeface="Archivo"/>
              </a:rPr>
              <a:t>Clinical decision-making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8507" y="4003923"/>
            <a:ext cx="1133624" cy="261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029"/>
              </a:lnSpc>
            </a:pPr>
            <a:r>
              <a:rPr sz="1100" b="0" i="0" dirty="0">
                <a:solidFill>
                  <a:srgbClr val="5D7480"/>
                </a:solidFill>
                <a:latin typeface="Archivo"/>
              </a:rPr>
              <a:t>Peri-operative &amp; patient care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83014" y="4146798"/>
            <a:ext cx="1092398" cy="261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029"/>
              </a:lnSpc>
            </a:pPr>
            <a:r>
              <a:rPr sz="1100" b="0" i="0">
                <a:solidFill>
                  <a:srgbClr val="5D7480"/>
                </a:solidFill>
                <a:latin typeface="Archivo"/>
              </a:rPr>
              <a:t>Technical &amp; assisting skills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575" y="5020270"/>
            <a:ext cx="1689050" cy="1349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63"/>
              </a:lnSpc>
            </a:pPr>
            <a:r>
              <a:rPr sz="1012" b="1" i="0">
                <a:solidFill>
                  <a:srgbClr val="07151C"/>
                </a:solidFill>
                <a:latin typeface="Fraunces"/>
              </a:rPr>
              <a:t>Role-aware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36825" y="5020270"/>
            <a:ext cx="1689050" cy="1349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63"/>
              </a:lnSpc>
            </a:pPr>
            <a:r>
              <a:rPr sz="1012" b="1" i="0">
                <a:solidFill>
                  <a:srgbClr val="07151C"/>
                </a:solidFill>
                <a:latin typeface="Fraunces"/>
              </a:rPr>
              <a:t>Specialty-extensible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83076" y="5020270"/>
            <a:ext cx="1689050" cy="1349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63"/>
              </a:lnSpc>
            </a:pPr>
            <a:r>
              <a:rPr sz="1012" b="1" i="0">
                <a:solidFill>
                  <a:srgbClr val="07151C"/>
                </a:solidFill>
                <a:latin typeface="Fraunces"/>
              </a:rPr>
              <a:t>Institution-ready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575" y="5202882"/>
            <a:ext cx="1689050" cy="4625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14"/>
              </a:lnSpc>
            </a:pPr>
            <a:r>
              <a:rPr sz="1100" b="0" i="0" dirty="0">
                <a:solidFill>
                  <a:srgbClr val="5D7480"/>
                </a:solidFill>
                <a:latin typeface="Archivo"/>
              </a:rPr>
              <a:t>Content, case libraries and rubrics tuned to each learner’s scope of practice.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36824" y="5202882"/>
            <a:ext cx="1794973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14"/>
              </a:lnSpc>
            </a:pPr>
            <a:r>
              <a:rPr sz="1100" b="0" i="0" dirty="0">
                <a:solidFill>
                  <a:srgbClr val="5D7480"/>
                </a:solidFill>
                <a:latin typeface="Archivo"/>
              </a:rPr>
              <a:t>The same engine accepts new curricula — glaucoma, retina, </a:t>
            </a:r>
            <a:r>
              <a:rPr sz="1100" b="0" i="0" dirty="0" err="1">
                <a:solidFill>
                  <a:srgbClr val="5D7480"/>
                </a:solidFill>
                <a:latin typeface="Archivo"/>
              </a:rPr>
              <a:t>paediatrics</a:t>
            </a:r>
            <a:r>
              <a:rPr sz="1100" b="0" i="0" dirty="0">
                <a:solidFill>
                  <a:srgbClr val="5D7480"/>
                </a:solidFill>
                <a:latin typeface="Archivo"/>
              </a:rPr>
              <a:t> and beyond.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64026" y="5202881"/>
            <a:ext cx="1851124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14"/>
              </a:lnSpc>
            </a:pPr>
            <a:r>
              <a:rPr sz="1100" b="0" i="0" dirty="0">
                <a:solidFill>
                  <a:srgbClr val="5D7480"/>
                </a:solidFill>
                <a:latin typeface="Archivo"/>
              </a:rPr>
              <a:t>PDPA-compliant consent, </a:t>
            </a:r>
            <a:r>
              <a:rPr sz="1100" b="0" i="0" dirty="0" err="1">
                <a:solidFill>
                  <a:srgbClr val="5D7480"/>
                </a:solidFill>
                <a:latin typeface="Archivo"/>
              </a:rPr>
              <a:t>bcrypt</a:t>
            </a:r>
            <a:r>
              <a:rPr sz="1100" b="0" i="0" dirty="0">
                <a:solidFill>
                  <a:srgbClr val="5D7480"/>
                </a:solidFill>
                <a:latin typeface="Archivo"/>
              </a:rPr>
              <a:t> credentials and role-based access — privacy by design.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-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850" cy="106965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8650" y="1495425"/>
            <a:ext cx="6305550" cy="4299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386"/>
              </a:lnSpc>
            </a:pPr>
            <a:r>
              <a:rPr sz="3225" b="1" i="0">
                <a:solidFill>
                  <a:srgbClr val="07151C"/>
                </a:solidFill>
                <a:latin typeface="Fraunces"/>
              </a:rPr>
              <a:t>From prototype to proof.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8650" y="9023598"/>
            <a:ext cx="6305550" cy="9871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sz="2025" b="0" i="0">
                <a:solidFill>
                  <a:srgbClr val="07151C"/>
                </a:solidFill>
                <a:latin typeface="Fraunces"/>
              </a:rPr>
              <a:t>Because impact is </a:t>
            </a:r>
            <a:r>
              <a:rPr sz="2025" b="0" i="0">
                <a:solidFill>
                  <a:srgbClr val="0C7D72"/>
                </a:solidFill>
                <a:latin typeface="Fraunces"/>
              </a:rPr>
              <a:t>measured, not asserted</a:t>
            </a:r>
            <a:r>
              <a:rPr sz="2025" b="0" i="0">
                <a:solidFill>
                  <a:srgbClr val="07151C"/>
                </a:solidFill>
                <a:latin typeface="Fraunces"/>
              </a:rPr>
              <a:t>, the pilot doubles as the evidence base for the award submission itself.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50928" y="2596902"/>
            <a:ext cx="1091505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1125" b="1" i="0">
                <a:solidFill>
                  <a:srgbClr val="07151C"/>
                </a:solidFill>
                <a:latin typeface="Fraunces"/>
              </a:rPr>
              <a:t>Educational soundness</a:t>
            </a:r>
          </a:p>
          <a:p>
            <a:pPr algn="l">
              <a:lnSpc>
                <a:spcPts val="1462"/>
              </a:lnSpc>
            </a:pPr>
            <a:r>
              <a:rPr sz="1125" b="0" i="0">
                <a:solidFill>
                  <a:srgbClr val="0C7D72"/>
                </a:solidFill>
                <a:latin typeface="Fraunces"/>
              </a:rPr>
              <a:t>PEDAGOGY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50928" y="3358902"/>
            <a:ext cx="1091505" cy="754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1125" b="1" i="0">
                <a:solidFill>
                  <a:srgbClr val="07151C"/>
                </a:solidFill>
                <a:latin typeface="Fraunces"/>
              </a:rPr>
              <a:t>Effectiveness</a:t>
            </a:r>
          </a:p>
          <a:p>
            <a:pPr algn="l">
              <a:lnSpc>
                <a:spcPts val="1462"/>
              </a:lnSpc>
            </a:pPr>
            <a:r>
              <a:rPr sz="1125" b="0" i="0">
                <a:solidFill>
                  <a:srgbClr val="0C7D72"/>
                </a:solidFill>
                <a:latin typeface="Fraunces"/>
              </a:rPr>
              <a:t>OUTCOMES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50928" y="4113014"/>
            <a:ext cx="1091505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1125" b="1" i="0">
                <a:solidFill>
                  <a:srgbClr val="07151C"/>
                </a:solidFill>
                <a:latin typeface="Fraunces"/>
              </a:rPr>
              <a:t>User experience</a:t>
            </a:r>
          </a:p>
          <a:p>
            <a:pPr algn="l">
              <a:lnSpc>
                <a:spcPts val="1462"/>
              </a:lnSpc>
            </a:pPr>
            <a:r>
              <a:rPr sz="1125" b="0" i="0">
                <a:solidFill>
                  <a:srgbClr val="0C7D72"/>
                </a:solidFill>
                <a:latin typeface="Fraunces"/>
              </a:rPr>
              <a:t>ENGAGEMENT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50928" y="4875014"/>
            <a:ext cx="1091505" cy="749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1125" b="1" i="0">
                <a:solidFill>
                  <a:srgbClr val="07151C"/>
                </a:solidFill>
                <a:latin typeface="Fraunces"/>
              </a:rPr>
              <a:t>Significance</a:t>
            </a:r>
          </a:p>
          <a:p>
            <a:pPr algn="l">
              <a:lnSpc>
                <a:spcPts val="1462"/>
              </a:lnSpc>
            </a:pPr>
            <a:r>
              <a:rPr sz="1125" b="0" i="0">
                <a:solidFill>
                  <a:srgbClr val="0C7D72"/>
                </a:solidFill>
                <a:latin typeface="Fraunces"/>
              </a:rPr>
              <a:t>IMPACT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42432" y="2656098"/>
            <a:ext cx="1991767" cy="5001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1100" b="0" i="0" dirty="0">
                <a:solidFill>
                  <a:srgbClr val="16313B"/>
                </a:solidFill>
                <a:latin typeface="Archivo"/>
              </a:rPr>
              <a:t>Curriculum-grounded; SM-2 spacing; Socratic + case-based design rooted in learning science.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42433" y="3400166"/>
            <a:ext cx="1991767" cy="5001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1100" b="0" i="0" dirty="0">
                <a:solidFill>
                  <a:srgbClr val="16313B"/>
                </a:solidFill>
                <a:latin typeface="Archivo"/>
              </a:rPr>
              <a:t>Closes gaps in a measured loop; analytics quantify uplift at learner and cohort level.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42433" y="4150318"/>
            <a:ext cx="1991767" cy="5001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1100" b="0" i="0" dirty="0">
                <a:solidFill>
                  <a:srgbClr val="16313B"/>
                </a:solidFill>
                <a:latin typeface="Archivo"/>
              </a:rPr>
              <a:t>Polished, gamified and mobile-friendly, with daily check-ins that build habit.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42433" y="4913198"/>
            <a:ext cx="1991767" cy="5001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1100" b="0" i="0" dirty="0">
                <a:solidFill>
                  <a:srgbClr val="16313B"/>
                </a:solidFill>
                <a:latin typeface="Archivo"/>
              </a:rPr>
              <a:t>First AI companion spanning the ophthalmic learning continuum; scalable across </a:t>
            </a:r>
            <a:r>
              <a:rPr sz="1100" b="0" i="0" dirty="0" err="1">
                <a:solidFill>
                  <a:srgbClr val="16313B"/>
                </a:solidFill>
                <a:latin typeface="Archivo"/>
              </a:rPr>
              <a:t>SingHealth</a:t>
            </a:r>
            <a:r>
              <a:rPr sz="1100" b="0" i="0" dirty="0">
                <a:solidFill>
                  <a:srgbClr val="16313B"/>
                </a:solidFill>
                <a:latin typeface="Archivo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2644477"/>
            <a:ext cx="2593628" cy="6668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48"/>
              </a:lnSpc>
            </a:pPr>
            <a:r>
              <a:rPr sz="1100" b="0" i="0" dirty="0">
                <a:solidFill>
                  <a:srgbClr val="16313B"/>
                </a:solidFill>
                <a:latin typeface="Archivo"/>
              </a:rPr>
              <a:t>A representative intake of ophthalmic trainees over an 8–12 week module, benchmarked against a prior cohort as historical control.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" y="3745929"/>
            <a:ext cx="2593628" cy="6668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48"/>
              </a:lnSpc>
            </a:pPr>
            <a:r>
              <a:rPr sz="1100" b="0" i="0" dirty="0">
                <a:solidFill>
                  <a:srgbClr val="16313B"/>
                </a:solidFill>
                <a:latin typeface="Archivo"/>
              </a:rPr>
              <a:t>Pre/post knowledge test · case-rubric progression · flashcard retention · engagement (active days &amp; streaks) · educator time saved · learner satisfaction.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" y="4933504"/>
            <a:ext cx="2593628" cy="5134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48"/>
              </a:lnSpc>
            </a:pPr>
            <a:r>
              <a:rPr sz="1100" b="0" i="0" dirty="0">
                <a:solidFill>
                  <a:srgbClr val="16313B"/>
                </a:solidFill>
                <a:latin typeface="Archivo"/>
              </a:rPr>
              <a:t>Baseline → guided daily use → measured uplift, with the analytics layer capturing evidence automatically throughout.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-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850" cy="106965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8650" y="1495425"/>
            <a:ext cx="6305550" cy="4299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386"/>
              </a:lnSpc>
            </a:pPr>
            <a:r>
              <a:rPr sz="3225" b="1" i="0">
                <a:solidFill>
                  <a:srgbClr val="EAFFFB"/>
                </a:solidFill>
                <a:latin typeface="Fraunces"/>
              </a:rPr>
              <a:t>Where this goes next.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8650" y="4047679"/>
            <a:ext cx="6305550" cy="13162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sz="2025" b="0" i="0">
                <a:solidFill>
                  <a:srgbClr val="EAFFFB"/>
                </a:solidFill>
                <a:latin typeface="Fraunces"/>
              </a:rPr>
              <a:t>SNEC EyeBot turns a fixed curriculum into a </a:t>
            </a:r>
            <a:r>
              <a:rPr sz="2025" b="0" i="0">
                <a:solidFill>
                  <a:srgbClr val="2FE0C4"/>
                </a:solidFill>
                <a:latin typeface="Fraunces"/>
              </a:rPr>
              <a:t>living, personalised and measurable</a:t>
            </a:r>
            <a:r>
              <a:rPr sz="2025" b="0" i="0">
                <a:solidFill>
                  <a:srgbClr val="EAFFFB"/>
                </a:solidFill>
                <a:latin typeface="Fraunces"/>
              </a:rPr>
              <a:t> learning experience — and positions SNEC at the forefront of AI-enabled clinical education.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8650" y="2792164"/>
            <a:ext cx="1404938" cy="1532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7"/>
              </a:lnSpc>
            </a:pPr>
            <a:r>
              <a:rPr sz="1050" b="1" i="0">
                <a:solidFill>
                  <a:srgbClr val="EAFFFB"/>
                </a:solidFill>
                <a:latin typeface="Fraunces"/>
              </a:rPr>
              <a:t>SNEC 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05038" y="2792164"/>
            <a:ext cx="1404938" cy="1532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7"/>
              </a:lnSpc>
            </a:pPr>
            <a:r>
              <a:rPr sz="1050" b="1" i="0">
                <a:solidFill>
                  <a:srgbClr val="EAFFFB"/>
                </a:solidFill>
                <a:latin typeface="Fraunces"/>
              </a:rPr>
              <a:t>Multi-role rollout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81425" y="2792164"/>
            <a:ext cx="1404938" cy="1532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7"/>
              </a:lnSpc>
            </a:pPr>
            <a:r>
              <a:rPr sz="1050" b="1" i="0">
                <a:solidFill>
                  <a:srgbClr val="EAFFFB"/>
                </a:solidFill>
                <a:latin typeface="Fraunces"/>
              </a:rPr>
              <a:t>Specialty expansion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57812" y="2792164"/>
            <a:ext cx="1404938" cy="1532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7"/>
              </a:lnSpc>
            </a:pPr>
            <a:r>
              <a:rPr sz="1050" b="1" i="0">
                <a:solidFill>
                  <a:srgbClr val="EAFFFB"/>
                </a:solidFill>
                <a:latin typeface="Fraunces"/>
              </a:rPr>
              <a:t>SingHealth-wide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" y="2983557"/>
            <a:ext cx="1423988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52"/>
              </a:lnSpc>
            </a:pPr>
            <a:r>
              <a:rPr sz="1100" b="0" i="0" dirty="0">
                <a:solidFill>
                  <a:srgbClr val="9FB6B6"/>
                </a:solidFill>
                <a:latin typeface="Archivo"/>
              </a:rPr>
              <a:t>Run with a live intake; capture the outcome evidence.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05038" y="2983557"/>
            <a:ext cx="1423988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52"/>
              </a:lnSpc>
            </a:pPr>
            <a:r>
              <a:rPr sz="1100" b="0" i="0" dirty="0">
                <a:solidFill>
                  <a:srgbClr val="9FB6B6"/>
                </a:solidFill>
                <a:latin typeface="Archivo"/>
              </a:rPr>
              <a:t>Extend across every eye-care learner type.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81425" y="2983557"/>
            <a:ext cx="1423988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52"/>
              </a:lnSpc>
            </a:pPr>
            <a:r>
              <a:rPr sz="1100" b="0" i="0" dirty="0">
                <a:solidFill>
                  <a:srgbClr val="9FB6B6"/>
                </a:solidFill>
                <a:latin typeface="Archivo"/>
              </a:rPr>
              <a:t>New curricula, richer simulation media, UI refresh.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57812" y="2983557"/>
            <a:ext cx="1423988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52"/>
              </a:lnSpc>
            </a:pPr>
            <a:r>
              <a:rPr sz="1100" b="0" i="0" dirty="0">
                <a:solidFill>
                  <a:srgbClr val="9FB6B6"/>
                </a:solidFill>
                <a:latin typeface="Archivo"/>
              </a:rPr>
              <a:t>Other institutions on the same engine.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1109</Words>
  <Application>Microsoft Office PowerPoint</Application>
  <PresentationFormat>Custom</PresentationFormat>
  <Paragraphs>109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Archivo</vt:lpstr>
      <vt:lpstr>Fraunces</vt:lpstr>
      <vt:lpstr>JetBrains Mono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Caleb Teo</cp:lastModifiedBy>
  <cp:revision>1</cp:revision>
  <dcterms:created xsi:type="dcterms:W3CDTF">2013-01-27T09:14:16Z</dcterms:created>
  <dcterms:modified xsi:type="dcterms:W3CDTF">2026-06-02T06:48:24Z</dcterms:modified>
  <cp:category/>
</cp:coreProperties>
</file>